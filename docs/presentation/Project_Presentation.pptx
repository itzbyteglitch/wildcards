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0" y="365760"/>
            <a:ext cx="5669280" cy="5120640"/>
          </a:xfrm>
          <a:prstGeom prst="ellipse">
            <a:avLst/>
          </a:prstGeom>
          <a:solidFill>
            <a:srgbClr val="12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 rot="2028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028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E53935"/>
                </a:solidFill>
                <a:latin typeface="Segoe UI"/>
              </a:rPr>
              <a:t>UNO</a:t>
            </a:r>
          </a:p>
        </p:txBody>
      </p:sp>
      <p:sp>
        <p:nvSpPr>
          <p:cNvPr id="7" name="Rounded Rectangle 6"/>
          <p:cNvSpPr/>
          <p:nvPr/>
        </p:nvSpPr>
        <p:spPr>
          <a:xfrm rot="2112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 rot="2112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DD835"/>
                </a:solidFill>
                <a:latin typeface="Segoe UI"/>
              </a:rPr>
              <a:t>UNO</a:t>
            </a:r>
          </a:p>
        </p:txBody>
      </p:sp>
      <p:sp>
        <p:nvSpPr>
          <p:cNvPr id="10" name="Rounded Rectangle 9"/>
          <p:cNvSpPr/>
          <p:nvPr/>
        </p:nvSpPr>
        <p:spPr>
          <a:xfrm rot="48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 rot="48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43A047"/>
                </a:solidFill>
                <a:latin typeface="Segoe UI"/>
              </a:rPr>
              <a:t>UNO</a:t>
            </a:r>
          </a:p>
        </p:txBody>
      </p:sp>
      <p:sp>
        <p:nvSpPr>
          <p:cNvPr id="13" name="Rounded Rectangle 12"/>
          <p:cNvSpPr/>
          <p:nvPr/>
        </p:nvSpPr>
        <p:spPr>
          <a:xfrm rot="132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 rot="132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E88E5"/>
                </a:solidFill>
                <a:latin typeface="Segoe UI"/>
              </a:rPr>
              <a:t>UNO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1463040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DD835"/>
                </a:solidFill>
                <a:latin typeface="Segoe UI"/>
              </a:rPr>
              <a:t>TECHNICAL PROJECT PRESENTATION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1828800"/>
            <a:ext cx="7315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0" b="1" i="0">
                <a:solidFill>
                  <a:srgbClr val="F1F5F9"/>
                </a:solidFill>
                <a:latin typeface="Segoe UI"/>
              </a:rPr>
              <a:t>WILD </a:t>
            </a:r>
            <a:r>
              <a:rPr sz="6600" b="1" i="0">
                <a:solidFill>
                  <a:srgbClr val="E53935"/>
                </a:solidFill>
                <a:latin typeface="Segoe UI"/>
              </a:rPr>
              <a:t>CARDS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88036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E88E5"/>
                </a:solidFill>
                <a:latin typeface="Segoe UI"/>
              </a:rPr>
              <a:t>Browser Multiplayer UNO — Reimagined for the Web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566160"/>
            <a:ext cx="69494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4A3B8"/>
                </a:solidFill>
                <a:latin typeface="Segoe UI"/>
              </a:rPr>
              <a:t>A production-quality, real-time card game playable instantly in any browser — no downloads, no accounts. Powered by a server-authoritative engine and a globally distributed realtime layer.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892040"/>
            <a:ext cx="929030" cy="310896"/>
          </a:xfrm>
          <a:prstGeom prst="roundRect">
            <a:avLst>
              <a:gd name="adj" fmla="val 50000"/>
            </a:avLst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100" b="0">
                <a:solidFill>
                  <a:srgbClr val="0B1220"/>
                </a:solidFill>
                <a:latin typeface="Consolas"/>
              </a:rPr>
              <a:t>React 19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16582" y="4892040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100" b="0">
                <a:solidFill>
                  <a:srgbClr val="0B1220"/>
                </a:solidFill>
                <a:latin typeface="Consolas"/>
              </a:rPr>
              <a:t>TypeScript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60166" y="4892040"/>
            <a:ext cx="1378915" cy="310896"/>
          </a:xfrm>
          <a:prstGeom prst="roundRect">
            <a:avLst>
              <a:gd name="adj" fmla="val 50000"/>
            </a:avLst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100" b="0">
                <a:solidFill>
                  <a:srgbClr val="0B1220"/>
                </a:solidFill>
                <a:latin typeface="Consolas"/>
              </a:rPr>
              <a:t>TanStack Start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03673" y="4892040"/>
            <a:ext cx="1678838" cy="310896"/>
          </a:xfrm>
          <a:prstGeom prst="roundRect">
            <a:avLst>
              <a:gd name="adj" fmla="val 50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100" b="0">
                <a:solidFill>
                  <a:srgbClr val="0B1220"/>
                </a:solidFill>
                <a:latin typeface="Consolas"/>
              </a:rPr>
              <a:t>Cloudflare Workers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5330952"/>
            <a:ext cx="1453895" cy="310896"/>
          </a:xfrm>
          <a:prstGeom prst="roundRect">
            <a:avLst>
              <a:gd name="adj" fmla="val 50000"/>
            </a:avLst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100" b="0">
                <a:solidFill>
                  <a:srgbClr val="0B1220"/>
                </a:solidFill>
                <a:latin typeface="Consolas"/>
              </a:rPr>
              <a:t>Durable Objects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441447" y="5330952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100" b="0">
                <a:solidFill>
                  <a:srgbClr val="0B1220"/>
                </a:solidFill>
                <a:latin typeface="Consolas"/>
              </a:rPr>
              <a:t>WebSockets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85031" y="5330952"/>
            <a:ext cx="1004011" cy="310896"/>
          </a:xfrm>
          <a:prstGeom prst="roundRect">
            <a:avLst>
              <a:gd name="adj" fmla="val 50000"/>
            </a:avLst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100" b="0">
                <a:solidFill>
                  <a:srgbClr val="0B1220"/>
                </a:solidFill>
                <a:latin typeface="Consolas"/>
              </a:rPr>
              <a:t>D1 SQLite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Segoe UI"/>
              </a:rPr>
              <a:t>2–8 players  ·  private rooms  ·  smart bots  ·  cross-device realtime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0" y="365760"/>
            <a:ext cx="5669280" cy="5120640"/>
          </a:xfrm>
          <a:prstGeom prst="ellipse">
            <a:avLst/>
          </a:prstGeom>
          <a:solidFill>
            <a:srgbClr val="12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 rot="2028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028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E53935"/>
                </a:solidFill>
                <a:latin typeface="Segoe UI"/>
              </a:rPr>
              <a:t>UNO</a:t>
            </a:r>
          </a:p>
        </p:txBody>
      </p:sp>
      <p:sp>
        <p:nvSpPr>
          <p:cNvPr id="7" name="Rounded Rectangle 6"/>
          <p:cNvSpPr/>
          <p:nvPr/>
        </p:nvSpPr>
        <p:spPr>
          <a:xfrm rot="2112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 rot="2112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DD835"/>
                </a:solidFill>
                <a:latin typeface="Segoe UI"/>
              </a:rPr>
              <a:t>UNO</a:t>
            </a:r>
          </a:p>
        </p:txBody>
      </p:sp>
      <p:sp>
        <p:nvSpPr>
          <p:cNvPr id="10" name="Rounded Rectangle 9"/>
          <p:cNvSpPr/>
          <p:nvPr/>
        </p:nvSpPr>
        <p:spPr>
          <a:xfrm rot="48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 rot="48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43A047"/>
                </a:solidFill>
                <a:latin typeface="Segoe UI"/>
              </a:rPr>
              <a:t>UNO</a:t>
            </a:r>
          </a:p>
        </p:txBody>
      </p:sp>
      <p:sp>
        <p:nvSpPr>
          <p:cNvPr id="13" name="Rounded Rectangle 12"/>
          <p:cNvSpPr/>
          <p:nvPr/>
        </p:nvSpPr>
        <p:spPr>
          <a:xfrm rot="132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 rot="132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E88E5"/>
                </a:solidFill>
                <a:latin typeface="Segoe UI"/>
              </a:rPr>
              <a:t>UNO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3047923" cy="82296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47923" y="0"/>
            <a:ext cx="3047923" cy="82296"/>
          </a:xfrm>
          <a:prstGeom prst="rect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95846" y="0"/>
            <a:ext cx="3047923" cy="82296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3769" y="0"/>
            <a:ext cx="3047923" cy="82296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8404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53935"/>
                </a:solidFill>
                <a:latin typeface="Segoe UI"/>
              </a:rPr>
              <a:t>PRESENTATION OUTLINE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58368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1F5F9"/>
                </a:solidFill>
                <a:latin typeface="Segoe UI"/>
              </a:rPr>
              <a:t>Agenda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" y="1225296"/>
            <a:ext cx="1234440" cy="41148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651052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WILD CARDS  ·  Technical Project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2</a:t>
            </a:r>
          </a:p>
        </p:txBody>
      </p:sp>
      <p:sp>
        <p:nvSpPr>
          <p:cNvPr id="25" name="Oval 24"/>
          <p:cNvSpPr/>
          <p:nvPr/>
        </p:nvSpPr>
        <p:spPr>
          <a:xfrm>
            <a:off x="822960" y="1435608"/>
            <a:ext cx="310896" cy="310896"/>
          </a:xfrm>
          <a:prstGeom prst="ellipse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1449324"/>
            <a:ext cx="31089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220"/>
                </a:solidFill>
                <a:latin typeface="Segoe UI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14173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1F5F9"/>
                </a:solidFill>
                <a:latin typeface="Segoe UI"/>
              </a:rPr>
              <a:t>01  Overview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1728216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What WildCards is and why it exists</a:t>
            </a:r>
          </a:p>
        </p:txBody>
      </p:sp>
      <p:sp>
        <p:nvSpPr>
          <p:cNvPr id="29" name="Oval 28"/>
          <p:cNvSpPr/>
          <p:nvPr/>
        </p:nvSpPr>
        <p:spPr>
          <a:xfrm>
            <a:off x="822960" y="2221992"/>
            <a:ext cx="310896" cy="310896"/>
          </a:xfrm>
          <a:prstGeom prst="ellipse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2235708"/>
            <a:ext cx="31089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220"/>
                </a:solidFill>
                <a:latin typeface="Segoe U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220370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1F5F9"/>
                </a:solidFill>
                <a:latin typeface="Segoe UI"/>
              </a:rPr>
              <a:t>02  Problem &amp; Objectives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25146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The gaps it addresses and the goals set</a:t>
            </a:r>
          </a:p>
        </p:txBody>
      </p:sp>
      <p:sp>
        <p:nvSpPr>
          <p:cNvPr id="33" name="Oval 32"/>
          <p:cNvSpPr/>
          <p:nvPr/>
        </p:nvSpPr>
        <p:spPr>
          <a:xfrm>
            <a:off x="822960" y="3008376"/>
            <a:ext cx="310896" cy="310896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3022092"/>
            <a:ext cx="31089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220"/>
                </a:solidFill>
                <a:latin typeface="Segoe UI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0088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1F5F9"/>
                </a:solidFill>
                <a:latin typeface="Segoe UI"/>
              </a:rPr>
              <a:t>03  Key Features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80160" y="330098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What players actually get</a:t>
            </a:r>
          </a:p>
        </p:txBody>
      </p:sp>
      <p:sp>
        <p:nvSpPr>
          <p:cNvPr id="37" name="Oval 36"/>
          <p:cNvSpPr/>
          <p:nvPr/>
        </p:nvSpPr>
        <p:spPr>
          <a:xfrm>
            <a:off x="822960" y="3794760"/>
            <a:ext cx="310896" cy="310896"/>
          </a:xfrm>
          <a:prstGeom prst="ellipse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3808476"/>
            <a:ext cx="31089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220"/>
                </a:solidFill>
                <a:latin typeface="Segoe UI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80160" y="3776472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1F5F9"/>
                </a:solidFill>
                <a:latin typeface="Segoe UI"/>
              </a:rPr>
              <a:t>04  Technology Stack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80160" y="4087368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Every layer, framework and library</a:t>
            </a:r>
          </a:p>
        </p:txBody>
      </p:sp>
      <p:sp>
        <p:nvSpPr>
          <p:cNvPr id="41" name="Oval 40"/>
          <p:cNvSpPr/>
          <p:nvPr/>
        </p:nvSpPr>
        <p:spPr>
          <a:xfrm>
            <a:off x="822960" y="4581144"/>
            <a:ext cx="310896" cy="310896"/>
          </a:xfrm>
          <a:prstGeom prst="ellipse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4594860"/>
            <a:ext cx="31089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220"/>
                </a:solidFill>
                <a:latin typeface="Segoe UI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80160" y="4562856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1F5F9"/>
                </a:solidFill>
                <a:latin typeface="Segoe UI"/>
              </a:rPr>
              <a:t>05  System Architecture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80160" y="4873752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How the pieces fit together</a:t>
            </a:r>
          </a:p>
        </p:txBody>
      </p:sp>
      <p:sp>
        <p:nvSpPr>
          <p:cNvPr id="45" name="Oval 44"/>
          <p:cNvSpPr/>
          <p:nvPr/>
        </p:nvSpPr>
        <p:spPr>
          <a:xfrm>
            <a:off x="822960" y="5367528"/>
            <a:ext cx="310896" cy="310896"/>
          </a:xfrm>
          <a:prstGeom prst="ellipse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60" y="5381244"/>
            <a:ext cx="31089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220"/>
                </a:solidFill>
                <a:latin typeface="Segoe UI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80160" y="534924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1F5F9"/>
                </a:solidFill>
                <a:latin typeface="Segoe UI"/>
              </a:rPr>
              <a:t>06  Realtime Transport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80160" y="5660136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The auto-selecting delivery layer</a:t>
            </a:r>
          </a:p>
        </p:txBody>
      </p:sp>
      <p:sp>
        <p:nvSpPr>
          <p:cNvPr id="49" name="Oval 48"/>
          <p:cNvSpPr/>
          <p:nvPr/>
        </p:nvSpPr>
        <p:spPr>
          <a:xfrm>
            <a:off x="6492240" y="1435608"/>
            <a:ext cx="310896" cy="310896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92240" y="1449324"/>
            <a:ext cx="31089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220"/>
                </a:solidFill>
                <a:latin typeface="Segoe UI"/>
              </a:rPr>
              <a:t>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49440" y="14173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1F5F9"/>
                </a:solidFill>
                <a:latin typeface="Segoe UI"/>
              </a:rPr>
              <a:t>07  Game Engine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49440" y="1728216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Server-authoritative UNO rules</a:t>
            </a:r>
          </a:p>
        </p:txBody>
      </p:sp>
      <p:sp>
        <p:nvSpPr>
          <p:cNvPr id="53" name="Oval 52"/>
          <p:cNvSpPr/>
          <p:nvPr/>
        </p:nvSpPr>
        <p:spPr>
          <a:xfrm>
            <a:off x="6492240" y="2221992"/>
            <a:ext cx="310896" cy="310896"/>
          </a:xfrm>
          <a:prstGeom prst="ellipse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92240" y="2235708"/>
            <a:ext cx="31089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220"/>
                </a:solidFill>
                <a:latin typeface="Segoe UI"/>
              </a:rPr>
              <a:t>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49440" y="220370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1F5F9"/>
                </a:solidFill>
                <a:latin typeface="Segoe UI"/>
              </a:rPr>
              <a:t>08  Data, Auth &amp; Multiplayer Flow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949440" y="25146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Sessions, persistence, live play</a:t>
            </a:r>
          </a:p>
        </p:txBody>
      </p:sp>
      <p:sp>
        <p:nvSpPr>
          <p:cNvPr id="57" name="Oval 56"/>
          <p:cNvSpPr/>
          <p:nvPr/>
        </p:nvSpPr>
        <p:spPr>
          <a:xfrm>
            <a:off x="6492240" y="3008376"/>
            <a:ext cx="310896" cy="310896"/>
          </a:xfrm>
          <a:prstGeom prst="ellipse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92240" y="3022092"/>
            <a:ext cx="31089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220"/>
                </a:solidFill>
                <a:latin typeface="Segoe UI"/>
              </a:rPr>
              <a:t>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49440" y="2990088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1F5F9"/>
                </a:solidFill>
                <a:latin typeface="Segoe UI"/>
              </a:rPr>
              <a:t>09  Deployment &amp; CI/CD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49440" y="330098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Shipping to the edge</a:t>
            </a:r>
          </a:p>
        </p:txBody>
      </p:sp>
      <p:sp>
        <p:nvSpPr>
          <p:cNvPr id="61" name="Oval 60"/>
          <p:cNvSpPr/>
          <p:nvPr/>
        </p:nvSpPr>
        <p:spPr>
          <a:xfrm>
            <a:off x="6492240" y="3794760"/>
            <a:ext cx="310896" cy="310896"/>
          </a:xfrm>
          <a:prstGeom prst="ellipse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92240" y="3808476"/>
            <a:ext cx="31089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220"/>
                </a:solidFill>
                <a:latin typeface="Segoe UI"/>
              </a:rPr>
              <a:t>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49440" y="3776472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1F5F9"/>
                </a:solidFill>
                <a:latin typeface="Segoe UI"/>
              </a:rPr>
              <a:t>10  Performance, Security &amp; Challenges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949440" y="4087368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Hard problems, real answers</a:t>
            </a:r>
          </a:p>
        </p:txBody>
      </p:sp>
      <p:sp>
        <p:nvSpPr>
          <p:cNvPr id="65" name="Oval 64"/>
          <p:cNvSpPr/>
          <p:nvPr/>
        </p:nvSpPr>
        <p:spPr>
          <a:xfrm>
            <a:off x="6492240" y="4581144"/>
            <a:ext cx="310896" cy="310896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92240" y="4594860"/>
            <a:ext cx="31089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220"/>
                </a:solidFill>
                <a:latin typeface="Segoe UI"/>
              </a:rPr>
              <a:t>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949440" y="4562856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1F5F9"/>
                </a:solidFill>
                <a:latin typeface="Segoe UI"/>
              </a:rPr>
              <a:t>11  Demo &amp; Next Steps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49440" y="4873752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See it live, then what's next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0" y="365760"/>
            <a:ext cx="5669280" cy="5120640"/>
          </a:xfrm>
          <a:prstGeom prst="ellipse">
            <a:avLst/>
          </a:prstGeom>
          <a:solidFill>
            <a:srgbClr val="12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 rot="2028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028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E53935"/>
                </a:solidFill>
                <a:latin typeface="Segoe UI"/>
              </a:rPr>
              <a:t>UNO</a:t>
            </a:r>
          </a:p>
        </p:txBody>
      </p:sp>
      <p:sp>
        <p:nvSpPr>
          <p:cNvPr id="7" name="Rounded Rectangle 6"/>
          <p:cNvSpPr/>
          <p:nvPr/>
        </p:nvSpPr>
        <p:spPr>
          <a:xfrm rot="2112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 rot="2112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DD835"/>
                </a:solidFill>
                <a:latin typeface="Segoe UI"/>
              </a:rPr>
              <a:t>UNO</a:t>
            </a:r>
          </a:p>
        </p:txBody>
      </p:sp>
      <p:sp>
        <p:nvSpPr>
          <p:cNvPr id="10" name="Rounded Rectangle 9"/>
          <p:cNvSpPr/>
          <p:nvPr/>
        </p:nvSpPr>
        <p:spPr>
          <a:xfrm rot="48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 rot="48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43A047"/>
                </a:solidFill>
                <a:latin typeface="Segoe UI"/>
              </a:rPr>
              <a:t>UNO</a:t>
            </a:r>
          </a:p>
        </p:txBody>
      </p:sp>
      <p:sp>
        <p:nvSpPr>
          <p:cNvPr id="13" name="Rounded Rectangle 12"/>
          <p:cNvSpPr/>
          <p:nvPr/>
        </p:nvSpPr>
        <p:spPr>
          <a:xfrm rot="132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 rot="132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E88E5"/>
                </a:solidFill>
                <a:latin typeface="Segoe UI"/>
              </a:rPr>
              <a:t>UNO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3047923" cy="82296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47923" y="0"/>
            <a:ext cx="3047923" cy="82296"/>
          </a:xfrm>
          <a:prstGeom prst="rect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95846" y="0"/>
            <a:ext cx="3047923" cy="82296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3769" y="0"/>
            <a:ext cx="3047923" cy="82296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8404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53935"/>
                </a:solidFill>
                <a:latin typeface="Segoe UI"/>
              </a:rPr>
              <a:t>WHAT IS WILDCARDS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58368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1F5F9"/>
                </a:solidFill>
                <a:latin typeface="Segoe UI"/>
              </a:rPr>
              <a:t>Project Overview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" y="1225296"/>
            <a:ext cx="1234440" cy="41148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651052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WILD CARDS  ·  Technical Project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146304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1F5F9"/>
                </a:solidFill>
                <a:latin typeface="Segoe UI"/>
              </a:rPr>
              <a:t>WildCards </a:t>
            </a:r>
            <a:r>
              <a:rPr sz="1500" b="0" i="0">
                <a:solidFill>
                  <a:srgbClr val="94A3B8"/>
                </a:solidFill>
                <a:latin typeface="Segoe UI"/>
              </a:rPr>
              <a:t>is a production-quality, browser-based multiplayer implementation of the classic card game UNO. A single invite link drops players straight into a live game — the room is created instantly, bots fill empty seats, and every move is validated by an authoritative server so the rules can never be cheated.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3063240"/>
            <a:ext cx="2468880" cy="1554480"/>
          </a:xfrm>
          <a:prstGeom prst="roundRect">
            <a:avLst>
              <a:gd name="adj" fmla="val 5500"/>
            </a:avLst>
          </a:prstGeom>
          <a:solidFill>
            <a:srgbClr val="1A253A"/>
          </a:solidFill>
          <a:ln w="12700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3063240"/>
            <a:ext cx="64008" cy="1554480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78992" y="3227832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1F5F9"/>
                </a:solidFill>
                <a:latin typeface="Segoe UI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" y="3630168"/>
            <a:ext cx="2011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Segoe UI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" y="3246120"/>
            <a:ext cx="2011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E53935"/>
                </a:solidFill>
                <a:latin typeface="Segoe UI"/>
              </a:rPr>
              <a:t>2–8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" y="3931920"/>
            <a:ext cx="2057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players per room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66160" y="3063240"/>
            <a:ext cx="2468880" cy="1554480"/>
          </a:xfrm>
          <a:prstGeom prst="roundRect">
            <a:avLst>
              <a:gd name="adj" fmla="val 5500"/>
            </a:avLst>
          </a:prstGeom>
          <a:solidFill>
            <a:srgbClr val="1A253A"/>
          </a:solidFill>
          <a:ln w="12700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566160" y="3063240"/>
            <a:ext cx="64008" cy="1554480"/>
          </a:xfrm>
          <a:prstGeom prst="rect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22192" y="3227832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1F5F9"/>
                </a:solidFill>
                <a:latin typeface="Segoe UI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22192" y="3630168"/>
            <a:ext cx="2011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Segoe UI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22192" y="3246120"/>
            <a:ext cx="2011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DD835"/>
                </a:solidFill>
                <a:latin typeface="Segoe UI"/>
              </a:rPr>
              <a:t>≈30s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22192" y="3931920"/>
            <a:ext cx="2057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turn timers keep games moving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09360" y="3063240"/>
            <a:ext cx="2468880" cy="1554480"/>
          </a:xfrm>
          <a:prstGeom prst="roundRect">
            <a:avLst>
              <a:gd name="adj" fmla="val 5500"/>
            </a:avLst>
          </a:prstGeom>
          <a:solidFill>
            <a:srgbClr val="1A253A"/>
          </a:solidFill>
          <a:ln w="12700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309360" y="3063240"/>
            <a:ext cx="64008" cy="155448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65392" y="3227832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1F5F9"/>
                </a:solidFill>
                <a:latin typeface="Segoe UI"/>
              </a:rPr>
              <a:t/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65392" y="3630168"/>
            <a:ext cx="2011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Segoe UI"/>
              </a:rPr>
              <a:t/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65392" y="3246120"/>
            <a:ext cx="2011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43A047"/>
                </a:solidFill>
                <a:latin typeface="Segoe UI"/>
              </a:rPr>
              <a:t>100%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65392" y="3931920"/>
            <a:ext cx="2057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server-authoritative rules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52560" y="3063240"/>
            <a:ext cx="2468880" cy="1554480"/>
          </a:xfrm>
          <a:prstGeom prst="roundRect">
            <a:avLst>
              <a:gd name="adj" fmla="val 5500"/>
            </a:avLst>
          </a:prstGeom>
          <a:solidFill>
            <a:srgbClr val="1A253A"/>
          </a:solidFill>
          <a:ln w="12700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052560" y="3063240"/>
            <a:ext cx="64008" cy="155448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08592" y="3227832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1F5F9"/>
                </a:solidFill>
                <a:latin typeface="Segoe UI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08592" y="3630168"/>
            <a:ext cx="2011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Segoe UI"/>
              </a:rPr>
              <a:t/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08592" y="3246120"/>
            <a:ext cx="2011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E88E5"/>
                </a:solidFill>
                <a:latin typeface="Segoe UI"/>
              </a:rP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08592" y="3931920"/>
            <a:ext cx="2057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accounts or downloads required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22960" y="4983480"/>
            <a:ext cx="10515600" cy="1143000"/>
          </a:xfrm>
          <a:prstGeom prst="roundRect">
            <a:avLst>
              <a:gd name="adj" fmla="val 5500"/>
            </a:avLst>
          </a:prstGeom>
          <a:solidFill>
            <a:srgbClr val="1A253A"/>
          </a:solidFill>
          <a:ln w="12700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22960" y="4983480"/>
            <a:ext cx="64008" cy="1143000"/>
          </a:xfrm>
          <a:prstGeom prst="rect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78992" y="514807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1F5F9"/>
                </a:solidFill>
                <a:latin typeface="Segoe UI"/>
              </a:rPr>
              <a:t>One codebase, three environments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78992" y="5550408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Segoe UI"/>
              </a:rPr>
              <a:t>The frontend runs as a static site; TanStack Start powers SSR and type-safe server functions; a Cloudflare Worker + Durable Object hosts each room as a globally addressable relay. The same code deploys across tabs, browsers and devices.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0" y="365760"/>
            <a:ext cx="5669280" cy="5120640"/>
          </a:xfrm>
          <a:prstGeom prst="ellipse">
            <a:avLst/>
          </a:prstGeom>
          <a:solidFill>
            <a:srgbClr val="12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 rot="2028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028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E53935"/>
                </a:solidFill>
                <a:latin typeface="Segoe UI"/>
              </a:rPr>
              <a:t>UNO</a:t>
            </a:r>
          </a:p>
        </p:txBody>
      </p:sp>
      <p:sp>
        <p:nvSpPr>
          <p:cNvPr id="7" name="Rounded Rectangle 6"/>
          <p:cNvSpPr/>
          <p:nvPr/>
        </p:nvSpPr>
        <p:spPr>
          <a:xfrm rot="2112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 rot="2112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DD835"/>
                </a:solidFill>
                <a:latin typeface="Segoe UI"/>
              </a:rPr>
              <a:t>UNO</a:t>
            </a:r>
          </a:p>
        </p:txBody>
      </p:sp>
      <p:sp>
        <p:nvSpPr>
          <p:cNvPr id="10" name="Rounded Rectangle 9"/>
          <p:cNvSpPr/>
          <p:nvPr/>
        </p:nvSpPr>
        <p:spPr>
          <a:xfrm rot="48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 rot="48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43A047"/>
                </a:solidFill>
                <a:latin typeface="Segoe UI"/>
              </a:rPr>
              <a:t>UNO</a:t>
            </a:r>
          </a:p>
        </p:txBody>
      </p:sp>
      <p:sp>
        <p:nvSpPr>
          <p:cNvPr id="13" name="Rounded Rectangle 12"/>
          <p:cNvSpPr/>
          <p:nvPr/>
        </p:nvSpPr>
        <p:spPr>
          <a:xfrm rot="132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 rot="132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E88E5"/>
                </a:solidFill>
                <a:latin typeface="Segoe UI"/>
              </a:rPr>
              <a:t>UNO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3047923" cy="82296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47923" y="0"/>
            <a:ext cx="3047923" cy="82296"/>
          </a:xfrm>
          <a:prstGeom prst="rect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95846" y="0"/>
            <a:ext cx="3047923" cy="82296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3769" y="0"/>
            <a:ext cx="3047923" cy="82296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8404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53935"/>
                </a:solidFill>
                <a:latin typeface="Segoe UI"/>
              </a:rPr>
              <a:t>WHY REBUILD A CLASSIC GAME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58368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1F5F9"/>
                </a:solidFill>
                <a:latin typeface="Segoe UI"/>
              </a:rPr>
              <a:t>Problem Statement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" y="1225296"/>
            <a:ext cx="1234440" cy="41148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651052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WILD CARDS  ·  Technical Project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4</a:t>
            </a:r>
          </a:p>
        </p:txBody>
      </p:sp>
      <p:sp>
        <p:nvSpPr>
          <p:cNvPr id="25" name="Oval 24"/>
          <p:cNvSpPr/>
          <p:nvPr/>
        </p:nvSpPr>
        <p:spPr>
          <a:xfrm>
            <a:off x="822960" y="1508760"/>
            <a:ext cx="310896" cy="310896"/>
          </a:xfrm>
          <a:prstGeom prst="ellipse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1522476"/>
            <a:ext cx="31089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220"/>
                </a:solidFill>
                <a:latin typeface="Segoe UI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149047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1F5F9"/>
                </a:solidFill>
                <a:latin typeface="Segoe UI"/>
              </a:rPr>
              <a:t>Physical UNO is slow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1892808"/>
            <a:ext cx="47548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4A3B8"/>
                </a:solidFill>
                <a:latin typeface="Segoe UI"/>
              </a:rPr>
              <a:t>Setup, shuffling, rule disputes and scorekeeping interrupt the fun. Games can't happen without everyone in the same room.</a:t>
            </a:r>
          </a:p>
        </p:txBody>
      </p:sp>
      <p:sp>
        <p:nvSpPr>
          <p:cNvPr id="29" name="Oval 28"/>
          <p:cNvSpPr/>
          <p:nvPr/>
        </p:nvSpPr>
        <p:spPr>
          <a:xfrm>
            <a:off x="6309360" y="1508760"/>
            <a:ext cx="310896" cy="310896"/>
          </a:xfrm>
          <a:prstGeom prst="ellipse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1522476"/>
            <a:ext cx="31089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220"/>
                </a:solidFill>
                <a:latin typeface="Segoe U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12280" y="149047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1F5F9"/>
                </a:solidFill>
                <a:latin typeface="Segoe UI"/>
              </a:rPr>
              <a:t>Real-time multiplayer is hard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80" y="1892808"/>
            <a:ext cx="47548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4A3B8"/>
                </a:solidFill>
                <a:latin typeface="Segoe UI"/>
              </a:rPr>
              <a:t>State sync, latency, reconnects and fairness are notoriously difficult to get right — most web games cheat by trusting the client.</a:t>
            </a:r>
          </a:p>
        </p:txBody>
      </p:sp>
      <p:sp>
        <p:nvSpPr>
          <p:cNvPr id="33" name="Oval 32"/>
          <p:cNvSpPr/>
          <p:nvPr/>
        </p:nvSpPr>
        <p:spPr>
          <a:xfrm>
            <a:off x="822960" y="3840480"/>
            <a:ext cx="310896" cy="310896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3854196"/>
            <a:ext cx="31089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220"/>
                </a:solidFill>
                <a:latin typeface="Segoe UI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38221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1F5F9"/>
                </a:solidFill>
                <a:latin typeface="Segoe UI"/>
              </a:rPr>
              <a:t>Most web clones feel broken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25880" y="4224528"/>
            <a:ext cx="47548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4A3B8"/>
                </a:solidFill>
                <a:latin typeface="Segoe UI"/>
              </a:rPr>
              <a:t>Dead lobbies, logins required, ads, slow servers, or single-device demos that fall apart under real concurrent play.</a:t>
            </a:r>
          </a:p>
        </p:txBody>
      </p:sp>
      <p:sp>
        <p:nvSpPr>
          <p:cNvPr id="37" name="Oval 36"/>
          <p:cNvSpPr/>
          <p:nvPr/>
        </p:nvSpPr>
        <p:spPr>
          <a:xfrm>
            <a:off x="6309360" y="3840480"/>
            <a:ext cx="310896" cy="310896"/>
          </a:xfrm>
          <a:prstGeom prst="ellipse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0" y="3854196"/>
            <a:ext cx="31089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220"/>
                </a:solidFill>
                <a:latin typeface="Segoe UI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12280" y="38221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1F5F9"/>
                </a:solidFill>
                <a:latin typeface="Segoe UI"/>
              </a:rPr>
              <a:t>Trusting the client breaks the game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12280" y="4224528"/>
            <a:ext cx="47548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4A3B8"/>
                </a:solidFill>
                <a:latin typeface="Segoe UI"/>
              </a:rPr>
              <a:t>A client-authoritative card game can be modified to draw cards, see hands, or win instantly — fair play demands the server make every decision.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0" y="365760"/>
            <a:ext cx="5669280" cy="5120640"/>
          </a:xfrm>
          <a:prstGeom prst="ellipse">
            <a:avLst/>
          </a:prstGeom>
          <a:solidFill>
            <a:srgbClr val="12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 rot="2028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028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E53935"/>
                </a:solidFill>
                <a:latin typeface="Segoe UI"/>
              </a:rPr>
              <a:t>UNO</a:t>
            </a:r>
          </a:p>
        </p:txBody>
      </p:sp>
      <p:sp>
        <p:nvSpPr>
          <p:cNvPr id="7" name="Rounded Rectangle 6"/>
          <p:cNvSpPr/>
          <p:nvPr/>
        </p:nvSpPr>
        <p:spPr>
          <a:xfrm rot="2112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 rot="2112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DD835"/>
                </a:solidFill>
                <a:latin typeface="Segoe UI"/>
              </a:rPr>
              <a:t>UNO</a:t>
            </a:r>
          </a:p>
        </p:txBody>
      </p:sp>
      <p:sp>
        <p:nvSpPr>
          <p:cNvPr id="10" name="Rounded Rectangle 9"/>
          <p:cNvSpPr/>
          <p:nvPr/>
        </p:nvSpPr>
        <p:spPr>
          <a:xfrm rot="48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 rot="48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43A047"/>
                </a:solidFill>
                <a:latin typeface="Segoe UI"/>
              </a:rPr>
              <a:t>UNO</a:t>
            </a:r>
          </a:p>
        </p:txBody>
      </p:sp>
      <p:sp>
        <p:nvSpPr>
          <p:cNvPr id="13" name="Rounded Rectangle 12"/>
          <p:cNvSpPr/>
          <p:nvPr/>
        </p:nvSpPr>
        <p:spPr>
          <a:xfrm rot="132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 rot="132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E88E5"/>
                </a:solidFill>
                <a:latin typeface="Segoe UI"/>
              </a:rPr>
              <a:t>UNO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3047923" cy="82296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47923" y="0"/>
            <a:ext cx="3047923" cy="82296"/>
          </a:xfrm>
          <a:prstGeom prst="rect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95846" y="0"/>
            <a:ext cx="3047923" cy="82296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3769" y="0"/>
            <a:ext cx="3047923" cy="82296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8404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53935"/>
                </a:solidFill>
                <a:latin typeface="Segoe UI"/>
              </a:rPr>
              <a:t>GOALS THAT SHAPED EVERY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58368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1F5F9"/>
                </a:solidFill>
                <a:latin typeface="Segoe UI"/>
              </a:rPr>
              <a:t>Project Objectives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" y="1225296"/>
            <a:ext cx="1234440" cy="41148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651052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WILD CARDS  ·  Technical Project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1417320"/>
            <a:ext cx="10515600" cy="841248"/>
          </a:xfrm>
          <a:prstGeom prst="roundRect">
            <a:avLst>
              <a:gd name="adj" fmla="val 5500"/>
            </a:avLst>
          </a:prstGeom>
          <a:solidFill>
            <a:srgbClr val="1A253A"/>
          </a:solidFill>
          <a:ln w="12700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1417320"/>
            <a:ext cx="64008" cy="841248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2" y="15819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1F5F9"/>
                </a:solidFill>
                <a:latin typeface="Segoe UI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" y="1984248"/>
            <a:ext cx="100584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Segoe UI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1527048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E53935"/>
                </a:solidFill>
                <a:latin typeface="Segoe UI"/>
              </a:rPr>
              <a:t>01  </a:t>
            </a:r>
            <a:r>
              <a:rPr sz="1450" b="1" i="0">
                <a:solidFill>
                  <a:srgbClr val="F1F5F9"/>
                </a:solidFill>
                <a:latin typeface="Segoe UI"/>
              </a:rPr>
              <a:t>Instant, frictionless play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1527048"/>
            <a:ext cx="6583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Segoe UI"/>
              </a:rPr>
              <a:t>One click to start against bots; one invite link to gather friends. No signup, no downloads, no installs.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2386584"/>
            <a:ext cx="10515600" cy="841248"/>
          </a:xfrm>
          <a:prstGeom prst="roundRect">
            <a:avLst>
              <a:gd name="adj" fmla="val 5500"/>
            </a:avLst>
          </a:prstGeom>
          <a:solidFill>
            <a:srgbClr val="1A253A"/>
          </a:solidFill>
          <a:ln w="12700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2960" y="2386584"/>
            <a:ext cx="64008" cy="841248"/>
          </a:xfrm>
          <a:prstGeom prst="rect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78992" y="255117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1F5F9"/>
                </a:solidFill>
                <a:latin typeface="Segoe UI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" y="2953512"/>
            <a:ext cx="100584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Segoe UI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" y="2496312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DD835"/>
                </a:solidFill>
                <a:latin typeface="Segoe UI"/>
              </a:rPr>
              <a:t>02  </a:t>
            </a:r>
            <a:r>
              <a:rPr sz="1450" b="1" i="0">
                <a:solidFill>
                  <a:srgbClr val="F1F5F9"/>
                </a:solidFill>
                <a:latin typeface="Segoe UI"/>
              </a:rPr>
              <a:t>Server-authoritative fairness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26280" y="2496312"/>
            <a:ext cx="6583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Segoe UI"/>
              </a:rPr>
              <a:t>Cards are dealt, shuffled and validated on the server. Clients only ever receive their own hand.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2960" y="3355848"/>
            <a:ext cx="10515600" cy="841248"/>
          </a:xfrm>
          <a:prstGeom prst="roundRect">
            <a:avLst>
              <a:gd name="adj" fmla="val 5500"/>
            </a:avLst>
          </a:prstGeom>
          <a:solidFill>
            <a:srgbClr val="1A253A"/>
          </a:solidFill>
          <a:ln w="12700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2960" y="3355848"/>
            <a:ext cx="64008" cy="841248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78992" y="35204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1F5F9"/>
                </a:solidFill>
                <a:latin typeface="Segoe UI"/>
              </a:rPr>
              <a:t/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8992" y="3922776"/>
            <a:ext cx="100584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Segoe UI"/>
              </a:rPr>
              <a:t/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3000" y="3465576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43A047"/>
                </a:solidFill>
                <a:latin typeface="Segoe UI"/>
              </a:rPr>
              <a:t>03  </a:t>
            </a:r>
            <a:r>
              <a:rPr sz="1450" b="1" i="0">
                <a:solidFill>
                  <a:srgbClr val="F1F5F9"/>
                </a:solidFill>
                <a:latin typeface="Segoe UI"/>
              </a:rPr>
              <a:t>Rock-solid realtime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26280" y="3465576"/>
            <a:ext cx="6583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Segoe UI"/>
              </a:rPr>
              <a:t>WebSockets by default, graceful fallbacks, reconnection, and a live poller that keeps every client converged on the same state.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" y="4325112"/>
            <a:ext cx="10515600" cy="841248"/>
          </a:xfrm>
          <a:prstGeom prst="roundRect">
            <a:avLst>
              <a:gd name="adj" fmla="val 5500"/>
            </a:avLst>
          </a:prstGeom>
          <a:solidFill>
            <a:srgbClr val="1A253A"/>
          </a:solidFill>
          <a:ln w="12700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960" y="4325112"/>
            <a:ext cx="64008" cy="841248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78992" y="448970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1F5F9"/>
                </a:solidFill>
                <a:latin typeface="Segoe UI"/>
              </a:rPr>
              <a:t/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78992" y="4892040"/>
            <a:ext cx="100584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Segoe UI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" y="443484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E88E5"/>
                </a:solidFill>
                <a:latin typeface="Segoe UI"/>
              </a:rPr>
              <a:t>04  </a:t>
            </a:r>
            <a:r>
              <a:rPr sz="1450" b="1" i="0">
                <a:solidFill>
                  <a:srgbClr val="F1F5F9"/>
                </a:solidFill>
                <a:latin typeface="Segoe UI"/>
              </a:rPr>
              <a:t>A complete UNO ruleset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26280" y="4434840"/>
            <a:ext cx="6583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Segoe UI"/>
              </a:rPr>
              <a:t>Draw-2 / Wild+4 stacking chains, missed-UNO penalties, skips, reverses, wild color selection, and automatic turn timeouts.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22960" y="5294376"/>
            <a:ext cx="10515600" cy="841248"/>
          </a:xfrm>
          <a:prstGeom prst="roundRect">
            <a:avLst>
              <a:gd name="adj" fmla="val 5500"/>
            </a:avLst>
          </a:prstGeom>
          <a:solidFill>
            <a:srgbClr val="1A253A"/>
          </a:solidFill>
          <a:ln w="12700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22960" y="5294376"/>
            <a:ext cx="64008" cy="841248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78992" y="54589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1F5F9"/>
                </a:solidFill>
                <a:latin typeface="Segoe UI"/>
              </a:rPr>
              <a:t/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78992" y="5861304"/>
            <a:ext cx="100584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Segoe UI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43000" y="5404104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E53935"/>
                </a:solidFill>
                <a:latin typeface="Segoe UI"/>
              </a:rPr>
              <a:t>05  </a:t>
            </a:r>
            <a:r>
              <a:rPr sz="1450" b="1" i="0">
                <a:solidFill>
                  <a:srgbClr val="F1F5F9"/>
                </a:solidFill>
                <a:latin typeface="Segoe UI"/>
              </a:rPr>
              <a:t>Professional engineering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5404104"/>
            <a:ext cx="6583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Segoe UI"/>
              </a:rPr>
              <a:t>Strict TypeScript, deterministic engine, CI pipeline with typecheck + build + lint, and a deployable edge architecture.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0" y="365760"/>
            <a:ext cx="5669280" cy="5120640"/>
          </a:xfrm>
          <a:prstGeom prst="ellipse">
            <a:avLst/>
          </a:prstGeom>
          <a:solidFill>
            <a:srgbClr val="12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 rot="2028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028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E53935"/>
                </a:solidFill>
                <a:latin typeface="Segoe UI"/>
              </a:rPr>
              <a:t>UNO</a:t>
            </a:r>
          </a:p>
        </p:txBody>
      </p:sp>
      <p:sp>
        <p:nvSpPr>
          <p:cNvPr id="7" name="Rounded Rectangle 6"/>
          <p:cNvSpPr/>
          <p:nvPr/>
        </p:nvSpPr>
        <p:spPr>
          <a:xfrm rot="2112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 rot="2112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DD835"/>
                </a:solidFill>
                <a:latin typeface="Segoe UI"/>
              </a:rPr>
              <a:t>UNO</a:t>
            </a:r>
          </a:p>
        </p:txBody>
      </p:sp>
      <p:sp>
        <p:nvSpPr>
          <p:cNvPr id="10" name="Rounded Rectangle 9"/>
          <p:cNvSpPr/>
          <p:nvPr/>
        </p:nvSpPr>
        <p:spPr>
          <a:xfrm rot="48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 rot="48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43A047"/>
                </a:solidFill>
                <a:latin typeface="Segoe UI"/>
              </a:rPr>
              <a:t>UNO</a:t>
            </a:r>
          </a:p>
        </p:txBody>
      </p:sp>
      <p:sp>
        <p:nvSpPr>
          <p:cNvPr id="13" name="Rounded Rectangle 12"/>
          <p:cNvSpPr/>
          <p:nvPr/>
        </p:nvSpPr>
        <p:spPr>
          <a:xfrm rot="132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 rot="132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E88E5"/>
                </a:solidFill>
                <a:latin typeface="Segoe UI"/>
              </a:rPr>
              <a:t>UNO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3047923" cy="82296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47923" y="0"/>
            <a:ext cx="3047923" cy="82296"/>
          </a:xfrm>
          <a:prstGeom prst="rect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95846" y="0"/>
            <a:ext cx="3047923" cy="82296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3769" y="0"/>
            <a:ext cx="3047923" cy="82296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8404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53935"/>
                </a:solidFill>
                <a:latin typeface="Segoe UI"/>
              </a:rPr>
              <a:t>WHAT PLAYERS 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58368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1F5F9"/>
                </a:solidFill>
                <a:latin typeface="Segoe UI"/>
              </a:rPr>
              <a:t>Key Features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" y="1225296"/>
            <a:ext cx="1234440" cy="41148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651052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WILD CARDS  ·  Technical Project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1463040"/>
            <a:ext cx="3337560" cy="2194560"/>
          </a:xfrm>
          <a:prstGeom prst="roundRect">
            <a:avLst>
              <a:gd name="adj" fmla="val 5500"/>
            </a:avLst>
          </a:prstGeom>
          <a:solidFill>
            <a:srgbClr val="1A253A"/>
          </a:solidFill>
          <a:ln w="12700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1463040"/>
            <a:ext cx="64008" cy="2194560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2" y="1627632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1F5F9"/>
                </a:solidFill>
                <a:latin typeface="Segoe UI"/>
              </a:rPr>
              <a:t>Instant play vs smart bots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" y="2029968"/>
            <a:ext cx="2880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Start a match in one click; intelligent bots fill empty seats and follow the same rules as humans.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34840" y="1463040"/>
            <a:ext cx="3337560" cy="2194560"/>
          </a:xfrm>
          <a:prstGeom prst="roundRect">
            <a:avLst>
              <a:gd name="adj" fmla="val 5500"/>
            </a:avLst>
          </a:prstGeom>
          <a:solidFill>
            <a:srgbClr val="1A253A"/>
          </a:solidFill>
          <a:ln w="12700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34840" y="1463040"/>
            <a:ext cx="64008" cy="2194560"/>
          </a:xfrm>
          <a:prstGeom prst="rect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0872" y="1627632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1F5F9"/>
                </a:solidFill>
                <a:latin typeface="Segoe UI"/>
              </a:rPr>
              <a:t>Private rooms &amp; invite links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90872" y="2029968"/>
            <a:ext cx="2880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A 6-letter code and a shareable URL — up to 8 players join from any device or network.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0" y="1463040"/>
            <a:ext cx="3337560" cy="2194560"/>
          </a:xfrm>
          <a:prstGeom prst="roundRect">
            <a:avLst>
              <a:gd name="adj" fmla="val 5500"/>
            </a:avLst>
          </a:prstGeom>
          <a:solidFill>
            <a:srgbClr val="1A253A"/>
          </a:solidFill>
          <a:ln w="12700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46720" y="1463040"/>
            <a:ext cx="64008" cy="21945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2752" y="1627632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1F5F9"/>
                </a:solidFill>
                <a:latin typeface="Segoe UI"/>
              </a:rPr>
              <a:t>Cross-device realtime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2752" y="2029968"/>
            <a:ext cx="2880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Auto-selecting transport keeps every player in sync with live turn timers and a move log.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2960" y="3931920"/>
            <a:ext cx="3337560" cy="2194560"/>
          </a:xfrm>
          <a:prstGeom prst="roundRect">
            <a:avLst>
              <a:gd name="adj" fmla="val 5500"/>
            </a:avLst>
          </a:prstGeom>
          <a:solidFill>
            <a:srgbClr val="1A253A"/>
          </a:solidFill>
          <a:ln w="12700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2960" y="3931920"/>
            <a:ext cx="64008" cy="219456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78992" y="4096512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1F5F9"/>
                </a:solidFill>
                <a:latin typeface="Segoe UI"/>
              </a:rPr>
              <a:t>Full UNO rule engine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8992" y="4498848"/>
            <a:ext cx="2880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Stacking +2 / +4 chains, missed-UNO penalties, skips, reverses, wild color picker, turn timeouts.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434840" y="3931920"/>
            <a:ext cx="3337560" cy="2194560"/>
          </a:xfrm>
          <a:prstGeom prst="roundRect">
            <a:avLst>
              <a:gd name="adj" fmla="val 5500"/>
            </a:avLst>
          </a:prstGeom>
          <a:solidFill>
            <a:srgbClr val="1A253A"/>
          </a:solidFill>
          <a:ln w="12700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434840" y="3931920"/>
            <a:ext cx="64008" cy="2194560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90872" y="4096512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1F5F9"/>
                </a:solidFill>
                <a:latin typeface="Segoe UI"/>
              </a:rPr>
              <a:t>Stats &amp; leaderboard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90872" y="4498848"/>
            <a:ext cx="2880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Guest profiles track wins, score and history with a global leaderboard — no account required.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46720" y="3931920"/>
            <a:ext cx="3337560" cy="2194560"/>
          </a:xfrm>
          <a:prstGeom prst="roundRect">
            <a:avLst>
              <a:gd name="adj" fmla="val 5500"/>
            </a:avLst>
          </a:prstGeom>
          <a:solidFill>
            <a:srgbClr val="1A253A"/>
          </a:solidFill>
          <a:ln w="12700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046720" y="3931920"/>
            <a:ext cx="64008" cy="2194560"/>
          </a:xfrm>
          <a:prstGeom prst="rect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02752" y="4096512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1F5F9"/>
                </a:solidFill>
                <a:latin typeface="Segoe UI"/>
              </a:rPr>
              <a:t>Polished, animated UI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02752" y="4498848"/>
            <a:ext cx="2880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Framer-Motion card physics, glassmorphism, dark theme, and full responsive layouts.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0" y="365760"/>
            <a:ext cx="5669280" cy="5120640"/>
          </a:xfrm>
          <a:prstGeom prst="ellipse">
            <a:avLst/>
          </a:prstGeom>
          <a:solidFill>
            <a:srgbClr val="12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 rot="2028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028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E53935"/>
                </a:solidFill>
                <a:latin typeface="Segoe UI"/>
              </a:rPr>
              <a:t>UNO</a:t>
            </a:r>
          </a:p>
        </p:txBody>
      </p:sp>
      <p:sp>
        <p:nvSpPr>
          <p:cNvPr id="7" name="Rounded Rectangle 6"/>
          <p:cNvSpPr/>
          <p:nvPr/>
        </p:nvSpPr>
        <p:spPr>
          <a:xfrm rot="2112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 rot="2112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DD835"/>
                </a:solidFill>
                <a:latin typeface="Segoe UI"/>
              </a:rPr>
              <a:t>UNO</a:t>
            </a:r>
          </a:p>
        </p:txBody>
      </p:sp>
      <p:sp>
        <p:nvSpPr>
          <p:cNvPr id="10" name="Rounded Rectangle 9"/>
          <p:cNvSpPr/>
          <p:nvPr/>
        </p:nvSpPr>
        <p:spPr>
          <a:xfrm rot="48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 rot="48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43A047"/>
                </a:solidFill>
                <a:latin typeface="Segoe UI"/>
              </a:rPr>
              <a:t>UNO</a:t>
            </a:r>
          </a:p>
        </p:txBody>
      </p:sp>
      <p:sp>
        <p:nvSpPr>
          <p:cNvPr id="13" name="Rounded Rectangle 12"/>
          <p:cNvSpPr/>
          <p:nvPr/>
        </p:nvSpPr>
        <p:spPr>
          <a:xfrm rot="132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 rot="132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E88E5"/>
                </a:solidFill>
                <a:latin typeface="Segoe UI"/>
              </a:rPr>
              <a:t>UNO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3047923" cy="82296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47923" y="0"/>
            <a:ext cx="3047923" cy="82296"/>
          </a:xfrm>
          <a:prstGeom prst="rect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95846" y="0"/>
            <a:ext cx="3047923" cy="82296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3769" y="0"/>
            <a:ext cx="3047923" cy="82296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8404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53935"/>
                </a:solidFill>
                <a:latin typeface="Segoe UI"/>
              </a:rPr>
              <a:t>EVERY LAYER, FRAMEWORK AND LIBRARY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58368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1F5F9"/>
                </a:solidFill>
                <a:latin typeface="Segoe UI"/>
              </a:rPr>
              <a:t>Technology Stack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" y="1225296"/>
            <a:ext cx="1234440" cy="41148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651052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WILD CARDS  ·  Technical Project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14173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53935"/>
                </a:solidFill>
                <a:latin typeface="Segoe UI"/>
              </a:rPr>
              <a:t>Frontend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1874519"/>
            <a:ext cx="1027785" cy="310896"/>
          </a:xfrm>
          <a:prstGeom prst="roundRect">
            <a:avLst>
              <a:gd name="adj" fmla="val 50000"/>
            </a:avLst>
          </a:prstGeom>
          <a:solidFill>
            <a:srgbClr val="121B2E"/>
          </a:solidFill>
          <a:ln w="9525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100" b="1">
                <a:solidFill>
                  <a:srgbClr val="1E88E5"/>
                </a:solidFill>
                <a:latin typeface="Segoe UI"/>
              </a:rPr>
              <a:t>React 19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015337" y="1874519"/>
            <a:ext cx="1313078" cy="310896"/>
          </a:xfrm>
          <a:prstGeom prst="roundRect">
            <a:avLst>
              <a:gd name="adj" fmla="val 50000"/>
            </a:avLst>
          </a:prstGeom>
          <a:solidFill>
            <a:srgbClr val="121B2E"/>
          </a:solidFill>
          <a:ln w="9525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100" b="1">
                <a:solidFill>
                  <a:srgbClr val="1E88E5"/>
                </a:solidFill>
                <a:latin typeface="Segoe UI"/>
              </a:rPr>
              <a:t>TypeScript 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93007" y="1874519"/>
            <a:ext cx="885139" cy="310896"/>
          </a:xfrm>
          <a:prstGeom prst="roundRect">
            <a:avLst>
              <a:gd name="adj" fmla="val 50000"/>
            </a:avLst>
          </a:prstGeom>
          <a:solidFill>
            <a:srgbClr val="121B2E"/>
          </a:solidFill>
          <a:ln w="9525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100" b="1">
                <a:solidFill>
                  <a:srgbClr val="1E88E5"/>
                </a:solidFill>
                <a:latin typeface="Segoe UI"/>
              </a:rPr>
              <a:t>Vite 8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42738" y="1874519"/>
            <a:ext cx="1527048" cy="310896"/>
          </a:xfrm>
          <a:prstGeom prst="roundRect">
            <a:avLst>
              <a:gd name="adj" fmla="val 50000"/>
            </a:avLst>
          </a:prstGeom>
          <a:solidFill>
            <a:srgbClr val="121B2E"/>
          </a:solidFill>
          <a:ln w="9525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100" b="1">
                <a:solidFill>
                  <a:srgbClr val="1E88E5"/>
                </a:solidFill>
                <a:latin typeface="Segoe UI"/>
              </a:rPr>
              <a:t>TanStack Router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2295143"/>
            <a:ext cx="1455724" cy="310896"/>
          </a:xfrm>
          <a:prstGeom prst="roundRect">
            <a:avLst>
              <a:gd name="adj" fmla="val 50000"/>
            </a:avLst>
          </a:prstGeom>
          <a:solidFill>
            <a:srgbClr val="121B2E"/>
          </a:solidFill>
          <a:ln w="9525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100" b="1">
                <a:solidFill>
                  <a:srgbClr val="1E88E5"/>
                </a:solidFill>
                <a:latin typeface="Segoe UI"/>
              </a:rPr>
              <a:t>TanStack Start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443276" y="2295143"/>
            <a:ext cx="1455724" cy="310896"/>
          </a:xfrm>
          <a:prstGeom prst="roundRect">
            <a:avLst>
              <a:gd name="adj" fmla="val 50000"/>
            </a:avLst>
          </a:prstGeom>
          <a:solidFill>
            <a:srgbClr val="121B2E"/>
          </a:solidFill>
          <a:ln w="9525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100" b="1">
                <a:solidFill>
                  <a:srgbClr val="1E88E5"/>
                </a:solidFill>
                <a:latin typeface="Segoe UI"/>
              </a:rPr>
              <a:t>TanStack Query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63592" y="2295143"/>
            <a:ext cx="956462" cy="310896"/>
          </a:xfrm>
          <a:prstGeom prst="roundRect">
            <a:avLst>
              <a:gd name="adj" fmla="val 50000"/>
            </a:avLst>
          </a:prstGeom>
          <a:solidFill>
            <a:srgbClr val="121B2E"/>
          </a:solidFill>
          <a:ln w="9525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100" b="1">
                <a:solidFill>
                  <a:srgbClr val="1E88E5"/>
                </a:solidFill>
                <a:latin typeface="Segoe UI"/>
              </a:rPr>
              <a:t>Zustand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960" y="2715767"/>
            <a:ext cx="1455724" cy="310896"/>
          </a:xfrm>
          <a:prstGeom prst="roundRect">
            <a:avLst>
              <a:gd name="adj" fmla="val 50000"/>
            </a:avLst>
          </a:prstGeom>
          <a:solidFill>
            <a:srgbClr val="121B2E"/>
          </a:solidFill>
          <a:ln w="9525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100" b="1">
                <a:solidFill>
                  <a:srgbClr val="1E88E5"/>
                </a:solidFill>
                <a:latin typeface="Segoe UI"/>
              </a:rPr>
              <a:t>Tailwind CSS 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43276" y="2715767"/>
            <a:ext cx="1384401" cy="310896"/>
          </a:xfrm>
          <a:prstGeom prst="roundRect">
            <a:avLst>
              <a:gd name="adj" fmla="val 50000"/>
            </a:avLst>
          </a:prstGeom>
          <a:solidFill>
            <a:srgbClr val="121B2E"/>
          </a:solidFill>
          <a:ln w="9525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100" b="1">
                <a:solidFill>
                  <a:srgbClr val="1E88E5"/>
                </a:solidFill>
                <a:latin typeface="Segoe UI"/>
              </a:rPr>
              <a:t>Framer Motion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92269" y="2715767"/>
            <a:ext cx="1027785" cy="310896"/>
          </a:xfrm>
          <a:prstGeom prst="roundRect">
            <a:avLst>
              <a:gd name="adj" fmla="val 50000"/>
            </a:avLst>
          </a:prstGeom>
          <a:solidFill>
            <a:srgbClr val="121B2E"/>
          </a:solidFill>
          <a:ln w="9525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100" b="1">
                <a:solidFill>
                  <a:srgbClr val="1E88E5"/>
                </a:solidFill>
                <a:latin typeface="Segoe UI"/>
              </a:rPr>
              <a:t>Radix UI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184646" y="2715767"/>
            <a:ext cx="671169" cy="310896"/>
          </a:xfrm>
          <a:prstGeom prst="roundRect">
            <a:avLst>
              <a:gd name="adj" fmla="val 50000"/>
            </a:avLst>
          </a:prstGeom>
          <a:solidFill>
            <a:srgbClr val="121B2E"/>
          </a:solidFill>
          <a:ln w="9525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100" b="1">
                <a:solidFill>
                  <a:srgbClr val="1E88E5"/>
                </a:solidFill>
                <a:latin typeface="Segoe UI"/>
              </a:rPr>
              <a:t>Zod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2960" y="3136391"/>
            <a:ext cx="1027785" cy="310896"/>
          </a:xfrm>
          <a:prstGeom prst="roundRect">
            <a:avLst>
              <a:gd name="adj" fmla="val 50000"/>
            </a:avLst>
          </a:prstGeom>
          <a:solidFill>
            <a:srgbClr val="121B2E"/>
          </a:solidFill>
          <a:ln w="9525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100" b="1">
                <a:solidFill>
                  <a:srgbClr val="1E88E5"/>
                </a:solidFill>
                <a:latin typeface="Segoe UI"/>
              </a:rPr>
              <a:t>Recharts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14173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43A047"/>
                </a:solidFill>
                <a:latin typeface="Segoe UI"/>
              </a:rPr>
              <a:t>Backend &amp; Infrastructure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766560" y="1874519"/>
            <a:ext cx="1741017" cy="310896"/>
          </a:xfrm>
          <a:prstGeom prst="roundRect">
            <a:avLst>
              <a:gd name="adj" fmla="val 50000"/>
            </a:avLst>
          </a:prstGeom>
          <a:solidFill>
            <a:srgbClr val="121B2E"/>
          </a:solidFill>
          <a:ln w="9525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100" b="1">
                <a:solidFill>
                  <a:srgbClr val="43A047"/>
                </a:solidFill>
                <a:latin typeface="Segoe UI"/>
              </a:rPr>
              <a:t>Cloudflare Workers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672169" y="1874519"/>
            <a:ext cx="1527048" cy="310896"/>
          </a:xfrm>
          <a:prstGeom prst="roundRect">
            <a:avLst>
              <a:gd name="adj" fmla="val 50000"/>
            </a:avLst>
          </a:prstGeom>
          <a:solidFill>
            <a:srgbClr val="121B2E"/>
          </a:solidFill>
          <a:ln w="9525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100" b="1">
                <a:solidFill>
                  <a:srgbClr val="43A047"/>
                </a:solidFill>
                <a:latin typeface="Segoe UI"/>
              </a:rPr>
              <a:t>Durable Objects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766560" y="2295143"/>
            <a:ext cx="1241755" cy="310896"/>
          </a:xfrm>
          <a:prstGeom prst="roundRect">
            <a:avLst>
              <a:gd name="adj" fmla="val 50000"/>
            </a:avLst>
          </a:prstGeom>
          <a:solidFill>
            <a:srgbClr val="121B2E"/>
          </a:solidFill>
          <a:ln w="9525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100" b="1">
                <a:solidFill>
                  <a:srgbClr val="43A047"/>
                </a:solidFill>
                <a:latin typeface="Segoe UI"/>
              </a:rPr>
              <a:t>D1 (SQLite)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72907" y="2295143"/>
            <a:ext cx="742492" cy="310896"/>
          </a:xfrm>
          <a:prstGeom prst="roundRect">
            <a:avLst>
              <a:gd name="adj" fmla="val 50000"/>
            </a:avLst>
          </a:prstGeom>
          <a:solidFill>
            <a:srgbClr val="121B2E"/>
          </a:solidFill>
          <a:ln w="9525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100" b="1">
                <a:solidFill>
                  <a:srgbClr val="43A047"/>
                </a:solidFill>
                <a:latin typeface="Segoe UI"/>
              </a:rPr>
              <a:t>Hono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079991" y="2295143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121B2E"/>
          </a:solidFill>
          <a:ln w="9525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100" b="1">
                <a:solidFill>
                  <a:srgbClr val="43A047"/>
                </a:solidFill>
                <a:latin typeface="Segoe UI"/>
              </a:rPr>
              <a:t>WebSockets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766560" y="2715767"/>
            <a:ext cx="1669694" cy="310896"/>
          </a:xfrm>
          <a:prstGeom prst="roundRect">
            <a:avLst>
              <a:gd name="adj" fmla="val 50000"/>
            </a:avLst>
          </a:prstGeom>
          <a:solidFill>
            <a:srgbClr val="121B2E"/>
          </a:solidFill>
          <a:ln w="9525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100" b="1">
                <a:solidFill>
                  <a:srgbClr val="43A047"/>
                </a:solidFill>
                <a:latin typeface="Segoe UI"/>
              </a:rPr>
              <a:t>Supabase Realtime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600846" y="2715767"/>
            <a:ext cx="1598371" cy="310896"/>
          </a:xfrm>
          <a:prstGeom prst="roundRect">
            <a:avLst>
              <a:gd name="adj" fmla="val 50000"/>
            </a:avLst>
          </a:prstGeom>
          <a:solidFill>
            <a:srgbClr val="121B2E"/>
          </a:solidFill>
          <a:ln w="9525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100" b="1">
                <a:solidFill>
                  <a:srgbClr val="43A047"/>
                </a:solidFill>
                <a:latin typeface="Segoe UI"/>
              </a:rPr>
              <a:t>BroadcastChannel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766560" y="3136391"/>
            <a:ext cx="1027785" cy="310896"/>
          </a:xfrm>
          <a:prstGeom prst="roundRect">
            <a:avLst>
              <a:gd name="adj" fmla="val 50000"/>
            </a:avLst>
          </a:prstGeom>
          <a:solidFill>
            <a:srgbClr val="121B2E"/>
          </a:solidFill>
          <a:ln w="9525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100" b="1">
                <a:solidFill>
                  <a:srgbClr val="43A047"/>
                </a:solidFill>
                <a:latin typeface="Segoe UI"/>
              </a:rPr>
              <a:t>JWT auth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958937" y="3136391"/>
            <a:ext cx="1313078" cy="310896"/>
          </a:xfrm>
          <a:prstGeom prst="roundRect">
            <a:avLst>
              <a:gd name="adj" fmla="val 50000"/>
            </a:avLst>
          </a:prstGeom>
          <a:solidFill>
            <a:srgbClr val="121B2E"/>
          </a:solidFill>
          <a:ln w="9525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100" b="1">
                <a:solidFill>
                  <a:srgbClr val="43A047"/>
                </a:solidFill>
                <a:latin typeface="Segoe UI"/>
              </a:rPr>
              <a:t>Wrangler CLI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436607" y="3136391"/>
            <a:ext cx="1455724" cy="310896"/>
          </a:xfrm>
          <a:prstGeom prst="roundRect">
            <a:avLst>
              <a:gd name="adj" fmla="val 50000"/>
            </a:avLst>
          </a:prstGeom>
          <a:solidFill>
            <a:srgbClr val="121B2E"/>
          </a:solidFill>
          <a:ln w="9525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100" b="1">
                <a:solidFill>
                  <a:srgbClr val="43A047"/>
                </a:solidFill>
                <a:latin typeface="Segoe UI"/>
              </a:rPr>
              <a:t>GitHub Actions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22960" y="4846320"/>
            <a:ext cx="10515600" cy="1325880"/>
          </a:xfrm>
          <a:prstGeom prst="roundRect">
            <a:avLst>
              <a:gd name="adj" fmla="val 5500"/>
            </a:avLst>
          </a:prstGeom>
          <a:solidFill>
            <a:srgbClr val="1A253A"/>
          </a:solidFill>
          <a:ln w="12700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22960" y="4846320"/>
            <a:ext cx="64008" cy="1325880"/>
          </a:xfrm>
          <a:prstGeom prst="rect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78992" y="50109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1F5F9"/>
                </a:solidFill>
                <a:latin typeface="Segoe UI"/>
              </a:rPr>
              <a:t>Game engine: pure, deterministic TypeScript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78992" y="5413248"/>
            <a:ext cx="100584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Segoe UI"/>
              </a:rPr>
              <a:t>The core UNO logic (deck building, shuffling, turn order, stacking, scoring) lives in a zero-dependency TypeScript module. Being deterministic, it can run identically on the server for validation and in tests for verification.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0" y="365760"/>
            <a:ext cx="5669280" cy="5120640"/>
          </a:xfrm>
          <a:prstGeom prst="ellipse">
            <a:avLst/>
          </a:prstGeom>
          <a:solidFill>
            <a:srgbClr val="12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 rot="2028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028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E53935"/>
                </a:solidFill>
                <a:latin typeface="Segoe UI"/>
              </a:rPr>
              <a:t>UNO</a:t>
            </a:r>
          </a:p>
        </p:txBody>
      </p:sp>
      <p:sp>
        <p:nvSpPr>
          <p:cNvPr id="7" name="Rounded Rectangle 6"/>
          <p:cNvSpPr/>
          <p:nvPr/>
        </p:nvSpPr>
        <p:spPr>
          <a:xfrm rot="2112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 rot="2112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DD835"/>
                </a:solidFill>
                <a:latin typeface="Segoe UI"/>
              </a:rPr>
              <a:t>UNO</a:t>
            </a:r>
          </a:p>
        </p:txBody>
      </p:sp>
      <p:sp>
        <p:nvSpPr>
          <p:cNvPr id="10" name="Rounded Rectangle 9"/>
          <p:cNvSpPr/>
          <p:nvPr/>
        </p:nvSpPr>
        <p:spPr>
          <a:xfrm rot="48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 rot="48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43A047"/>
                </a:solidFill>
                <a:latin typeface="Segoe UI"/>
              </a:rPr>
              <a:t>UNO</a:t>
            </a:r>
          </a:p>
        </p:txBody>
      </p:sp>
      <p:sp>
        <p:nvSpPr>
          <p:cNvPr id="13" name="Rounded Rectangle 12"/>
          <p:cNvSpPr/>
          <p:nvPr/>
        </p:nvSpPr>
        <p:spPr>
          <a:xfrm rot="132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 rot="132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E88E5"/>
                </a:solidFill>
                <a:latin typeface="Segoe UI"/>
              </a:rPr>
              <a:t>UNO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3047923" cy="82296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47923" y="0"/>
            <a:ext cx="3047923" cy="82296"/>
          </a:xfrm>
          <a:prstGeom prst="rect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95846" y="0"/>
            <a:ext cx="3047923" cy="82296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3769" y="0"/>
            <a:ext cx="3047923" cy="82296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8404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53935"/>
                </a:solidFill>
                <a:latin typeface="Segoe UI"/>
              </a:rPr>
              <a:t>HOW THE PIECES FIT TOGETHER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58368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1F5F9"/>
                </a:solidFill>
                <a:latin typeface="Segoe UI"/>
              </a:rPr>
              <a:t>System Architecture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" y="1225296"/>
            <a:ext cx="1234440" cy="41148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651052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WILD CARDS  ·  Technical Project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1463040"/>
            <a:ext cx="2743200" cy="1325880"/>
          </a:xfrm>
          <a:prstGeom prst="roundRect">
            <a:avLst>
              <a:gd name="adj" fmla="val 12000"/>
            </a:avLst>
          </a:prstGeom>
          <a:solidFill>
            <a:srgbClr val="1A253A"/>
          </a:solidFill>
          <a:ln w="1905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159105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88E5"/>
                </a:solidFill>
                <a:latin typeface="Segoe UI"/>
              </a:rPr>
              <a:t>CLIENT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1938528"/>
            <a:ext cx="252374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A3B8"/>
                </a:solidFill>
                <a:latin typeface="Segoe UI"/>
              </a:rPr>
              <a:t>Browser app
React 19 UI · TanStack Router
reads server-authoritative state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0" y="1463040"/>
            <a:ext cx="3017520" cy="1325880"/>
          </a:xfrm>
          <a:prstGeom prst="roundRect">
            <a:avLst>
              <a:gd name="adj" fmla="val 12000"/>
            </a:avLst>
          </a:prstGeom>
          <a:solidFill>
            <a:srgbClr val="1A253A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0" y="1591056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43A047"/>
                </a:solidFill>
                <a:latin typeface="Segoe UI"/>
              </a:rPr>
              <a:t>TANSTACK START SERVER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64608" y="1938528"/>
            <a:ext cx="279806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A3B8"/>
                </a:solidFill>
                <a:latin typeface="Segoe UI"/>
              </a:rPr>
              <a:t>SSR + type-safe Server Functions
REST actions · guest auth
writes to room &amp; DB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12480" y="146304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1A253A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0" y="1591056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53935"/>
                </a:solidFill>
                <a:latin typeface="Segoe UI"/>
              </a:rPr>
              <a:t>ROOM SERVER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22208" y="1938528"/>
            <a:ext cx="270662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A3B8"/>
                </a:solidFill>
                <a:latin typeface="Segoe UI"/>
              </a:rPr>
              <a:t>Cloudflare Worker + Durable Object
WebSocket relay · roster
authoritative state snapshot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54880" y="3749039"/>
            <a:ext cx="3017520" cy="1143000"/>
          </a:xfrm>
          <a:prstGeom prst="roundRect">
            <a:avLst>
              <a:gd name="adj" fmla="val 12000"/>
            </a:avLst>
          </a:prstGeom>
          <a:solidFill>
            <a:srgbClr val="1A253A"/>
          </a:solidFill>
          <a:ln w="19050">
            <a:solidFill>
              <a:srgbClr val="FDD8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0" y="3877055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DD835"/>
                </a:solidFill>
                <a:latin typeface="Segoe UI"/>
              </a:rPr>
              <a:t>D1 · SQLITE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64608" y="4224527"/>
            <a:ext cx="2798064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A3B8"/>
                </a:solidFill>
                <a:latin typeface="Segoe UI"/>
              </a:rPr>
              <a:t>profiles · game history
leaderboard · stats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412480" y="3749039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1A253A"/>
          </a:solidFill>
          <a:ln w="19050">
            <a:solidFill>
              <a:srgbClr val="FDD8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0" y="3877055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DD835"/>
                </a:solidFill>
                <a:latin typeface="Segoe UI"/>
              </a:rPr>
              <a:t>AUTH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22208" y="4224527"/>
            <a:ext cx="2706624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A3B8"/>
                </a:solidFill>
                <a:latin typeface="Segoe UI"/>
              </a:rPr>
              <a:t>guest sessions · JWT
localStorage persistence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566160" y="2103120"/>
            <a:ext cx="1188720" cy="0"/>
          </a:xfrm>
          <a:prstGeom prst="line">
            <a:avLst/>
          </a:prstGeom>
          <a:ln w="28575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772400" y="2103120"/>
            <a:ext cx="640080" cy="0"/>
          </a:xfrm>
          <a:prstGeom prst="line">
            <a:avLst/>
          </a:prstGeom>
          <a:ln w="28575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263640" y="2788920"/>
            <a:ext cx="0" cy="960119"/>
          </a:xfrm>
          <a:prstGeom prst="line">
            <a:avLst/>
          </a:prstGeom>
          <a:ln w="28575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9875520" y="2788920"/>
            <a:ext cx="0" cy="960119"/>
          </a:xfrm>
          <a:prstGeom prst="line">
            <a:avLst/>
          </a:prstGeom>
          <a:ln w="28575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22960" y="534924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1F5F9"/>
                </a:solidFill>
                <a:latin typeface="Segoe UI"/>
              </a:rPr>
              <a:t>REALTIME TRANSPORT  —  auto-selecting, in priority order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2960" y="5742432"/>
            <a:ext cx="3337560" cy="685800"/>
          </a:xfrm>
          <a:prstGeom prst="roundRect">
            <a:avLst>
              <a:gd name="adj" fmla="val 15000"/>
            </a:avLst>
          </a:prstGeom>
          <a:solidFill>
            <a:srgbClr val="121B2E"/>
          </a:solidFill>
          <a:ln w="127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60120" y="5852160"/>
            <a:ext cx="310896" cy="310896"/>
          </a:xfrm>
          <a:prstGeom prst="ellipse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0120" y="5865876"/>
            <a:ext cx="31089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220"/>
                </a:solidFill>
                <a:latin typeface="Segoe UI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89888" y="576072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1F5F9"/>
                </a:solidFill>
                <a:latin typeface="Segoe UI"/>
              </a:rPr>
              <a:t>WebSocket → Durable Object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89888" y="6053328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Segoe UI"/>
              </a:rPr>
              <a:t>primary path — the Worker relays every event to all connected peers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434840" y="5742432"/>
            <a:ext cx="3337560" cy="685800"/>
          </a:xfrm>
          <a:prstGeom prst="roundRect">
            <a:avLst>
              <a:gd name="adj" fmla="val 15000"/>
            </a:avLst>
          </a:prstGeom>
          <a:solidFill>
            <a:srgbClr val="121B2E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572000" y="5852160"/>
            <a:ext cx="310896" cy="310896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0" y="5865876"/>
            <a:ext cx="31089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220"/>
                </a:solidFill>
                <a:latin typeface="Segoe UI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01768" y="576072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1F5F9"/>
                </a:solidFill>
                <a:latin typeface="Segoe UI"/>
              </a:rPr>
              <a:t>Supabase Realtime Broadcast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01768" y="6053328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Segoe UI"/>
              </a:rPr>
              <a:t>fallback when the WS origin isn't configured or reachable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046720" y="5742432"/>
            <a:ext cx="3337560" cy="685800"/>
          </a:xfrm>
          <a:prstGeom prst="roundRect">
            <a:avLst>
              <a:gd name="adj" fmla="val 15000"/>
            </a:avLst>
          </a:prstGeom>
          <a:solidFill>
            <a:srgbClr val="121B2E"/>
          </a:solidFill>
          <a:ln w="12700">
            <a:solidFill>
              <a:srgbClr val="FDD8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183880" y="5852160"/>
            <a:ext cx="310896" cy="310896"/>
          </a:xfrm>
          <a:prstGeom prst="ellipse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83880" y="5865876"/>
            <a:ext cx="31089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220"/>
                </a:solidFill>
                <a:latin typeface="Segoe UI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13648" y="576072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1F5F9"/>
                </a:solidFill>
                <a:latin typeface="Segoe UI"/>
              </a:rPr>
              <a:t>BroadcastChannel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13648" y="6053328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Segoe UI"/>
              </a:rPr>
              <a:t>same-browser, cross-tab rooms with zero network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0" y="365760"/>
            <a:ext cx="5669280" cy="5120640"/>
          </a:xfrm>
          <a:prstGeom prst="ellipse">
            <a:avLst/>
          </a:prstGeom>
          <a:solidFill>
            <a:srgbClr val="12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 rot="2028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028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E53935"/>
                </a:solidFill>
                <a:latin typeface="Segoe UI"/>
              </a:rPr>
              <a:t>UNO</a:t>
            </a:r>
          </a:p>
        </p:txBody>
      </p:sp>
      <p:sp>
        <p:nvSpPr>
          <p:cNvPr id="7" name="Rounded Rectangle 6"/>
          <p:cNvSpPr/>
          <p:nvPr/>
        </p:nvSpPr>
        <p:spPr>
          <a:xfrm rot="2112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 rot="2112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DD835"/>
                </a:solidFill>
                <a:latin typeface="Segoe UI"/>
              </a:rPr>
              <a:t>UNO</a:t>
            </a:r>
          </a:p>
        </p:txBody>
      </p:sp>
      <p:sp>
        <p:nvSpPr>
          <p:cNvPr id="10" name="Rounded Rectangle 9"/>
          <p:cNvSpPr/>
          <p:nvPr/>
        </p:nvSpPr>
        <p:spPr>
          <a:xfrm rot="48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 rot="48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43A047"/>
                </a:solidFill>
                <a:latin typeface="Segoe UI"/>
              </a:rPr>
              <a:t>UNO</a:t>
            </a:r>
          </a:p>
        </p:txBody>
      </p:sp>
      <p:sp>
        <p:nvSpPr>
          <p:cNvPr id="13" name="Rounded Rectangle 12"/>
          <p:cNvSpPr/>
          <p:nvPr/>
        </p:nvSpPr>
        <p:spPr>
          <a:xfrm rot="132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 rot="132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E88E5"/>
                </a:solidFill>
                <a:latin typeface="Segoe UI"/>
              </a:rPr>
              <a:t>UNO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3047923" cy="82296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47923" y="0"/>
            <a:ext cx="3047923" cy="82296"/>
          </a:xfrm>
          <a:prstGeom prst="rect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95846" y="0"/>
            <a:ext cx="3047923" cy="82296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3769" y="0"/>
            <a:ext cx="3047923" cy="82296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8404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53935"/>
                </a:solidFill>
                <a:latin typeface="Segoe UI"/>
              </a:rPr>
              <a:t>A MODERN TANSTACK APPLICATION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58368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1F5F9"/>
                </a:solidFill>
                <a:latin typeface="Segoe UI"/>
              </a:rPr>
              <a:t>Frontend Architecture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" y="1225296"/>
            <a:ext cx="1234440" cy="41148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651052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WILD CARDS  ·  Technical Project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9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1463040"/>
            <a:ext cx="10515600" cy="786384"/>
          </a:xfrm>
          <a:prstGeom prst="roundRect">
            <a:avLst>
              <a:gd name="adj" fmla="val 9000"/>
            </a:avLst>
          </a:prstGeom>
          <a:solidFill>
            <a:srgbClr val="1A253A"/>
          </a:solidFill>
          <a:ln w="9525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1463040"/>
            <a:ext cx="54864" cy="786384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155448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1F5F9"/>
                </a:solidFill>
                <a:latin typeface="Segoe UI"/>
              </a:rPr>
              <a:t>File-based routing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39" y="1554480"/>
            <a:ext cx="7223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TanStack Router with typed routes — landing, play, lobby, room/:code, leaderboard, profile.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2377440"/>
            <a:ext cx="10515600" cy="786384"/>
          </a:xfrm>
          <a:prstGeom prst="roundRect">
            <a:avLst>
              <a:gd name="adj" fmla="val 9000"/>
            </a:avLst>
          </a:prstGeom>
          <a:solidFill>
            <a:srgbClr val="1A253A"/>
          </a:solidFill>
          <a:ln w="9525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2960" y="2377440"/>
            <a:ext cx="54864" cy="786384"/>
          </a:xfrm>
          <a:prstGeom prst="rect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" y="246888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1F5F9"/>
                </a:solidFill>
                <a:latin typeface="Segoe UI"/>
              </a:rPr>
              <a:t>Server Functions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77639" y="2468880"/>
            <a:ext cx="7223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getRoom / joinRoom / submitAction are type-safe RPCs the client calls like local functions.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960" y="3291840"/>
            <a:ext cx="10515600" cy="786384"/>
          </a:xfrm>
          <a:prstGeom prst="roundRect">
            <a:avLst>
              <a:gd name="adj" fmla="val 9000"/>
            </a:avLst>
          </a:prstGeom>
          <a:solidFill>
            <a:srgbClr val="1A253A"/>
          </a:solidFill>
          <a:ln w="9525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2960" y="3291840"/>
            <a:ext cx="54864" cy="786384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1560" y="338328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1F5F9"/>
                </a:solidFill>
                <a:latin typeface="Segoe UI"/>
              </a:rPr>
              <a:t>Authored state, live UI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77639" y="3383280"/>
            <a:ext cx="7223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Zustand + React Query cache server state; local mirrors for instant, optimistic interaction.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2960" y="4206240"/>
            <a:ext cx="10515600" cy="786384"/>
          </a:xfrm>
          <a:prstGeom prst="roundRect">
            <a:avLst>
              <a:gd name="adj" fmla="val 9000"/>
            </a:avLst>
          </a:prstGeom>
          <a:solidFill>
            <a:srgbClr val="1A253A"/>
          </a:solidFill>
          <a:ln w="9525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2960" y="4206240"/>
            <a:ext cx="54864" cy="786384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429768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1F5F9"/>
                </a:solidFill>
                <a:latin typeface="Segoe UI"/>
              </a:rPr>
              <a:t>Component library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77639" y="4297680"/>
            <a:ext cx="7223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Radix UI primitives, Tailwind design tokens, Framer Motion for card play animations.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" y="5120640"/>
            <a:ext cx="10515600" cy="786384"/>
          </a:xfrm>
          <a:prstGeom prst="roundRect">
            <a:avLst>
              <a:gd name="adj" fmla="val 9000"/>
            </a:avLst>
          </a:prstGeom>
          <a:solidFill>
            <a:srgbClr val="1A253A"/>
          </a:solidFill>
          <a:ln w="9525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2960" y="5120640"/>
            <a:ext cx="54864" cy="786384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521208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1F5F9"/>
                </a:solidFill>
                <a:latin typeface="Segoe UI"/>
              </a:rPr>
              <a:t>Realtime client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77639" y="5212080"/>
            <a:ext cx="7223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A transport abstraction sends 'sync' nudges and reacts to peer messages by re-pulling authoritative state.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0" y="365760"/>
            <a:ext cx="5669280" cy="5120640"/>
          </a:xfrm>
          <a:prstGeom prst="ellipse">
            <a:avLst/>
          </a:prstGeom>
          <a:solidFill>
            <a:srgbClr val="12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 rot="2028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028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E53935"/>
                </a:solidFill>
                <a:latin typeface="Segoe UI"/>
              </a:rPr>
              <a:t>UNO</a:t>
            </a:r>
          </a:p>
        </p:txBody>
      </p:sp>
      <p:sp>
        <p:nvSpPr>
          <p:cNvPr id="7" name="Rounded Rectangle 6"/>
          <p:cNvSpPr/>
          <p:nvPr/>
        </p:nvSpPr>
        <p:spPr>
          <a:xfrm rot="2112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 rot="2112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DD835"/>
                </a:solidFill>
                <a:latin typeface="Segoe UI"/>
              </a:rPr>
              <a:t>UNO</a:t>
            </a:r>
          </a:p>
        </p:txBody>
      </p:sp>
      <p:sp>
        <p:nvSpPr>
          <p:cNvPr id="10" name="Rounded Rectangle 9"/>
          <p:cNvSpPr/>
          <p:nvPr/>
        </p:nvSpPr>
        <p:spPr>
          <a:xfrm rot="48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 rot="48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43A047"/>
                </a:solidFill>
                <a:latin typeface="Segoe UI"/>
              </a:rPr>
              <a:t>UNO</a:t>
            </a:r>
          </a:p>
        </p:txBody>
      </p:sp>
      <p:sp>
        <p:nvSpPr>
          <p:cNvPr id="13" name="Rounded Rectangle 12"/>
          <p:cNvSpPr/>
          <p:nvPr/>
        </p:nvSpPr>
        <p:spPr>
          <a:xfrm rot="132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 rot="132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E88E5"/>
                </a:solidFill>
                <a:latin typeface="Segoe UI"/>
              </a:rPr>
              <a:t>UNO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3047923" cy="82296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47923" y="0"/>
            <a:ext cx="3047923" cy="82296"/>
          </a:xfrm>
          <a:prstGeom prst="rect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95846" y="0"/>
            <a:ext cx="3047923" cy="82296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3769" y="0"/>
            <a:ext cx="3047923" cy="82296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8404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53935"/>
                </a:solidFill>
                <a:latin typeface="Segoe UI"/>
              </a:rPr>
              <a:t>CLOUDFLARE WORKERS AT THE EDGE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58368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1F5F9"/>
                </a:solidFill>
                <a:latin typeface="Segoe UI"/>
              </a:rPr>
              <a:t>Backend Architecture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" y="1225296"/>
            <a:ext cx="1234440" cy="41148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651052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WILD CARDS  ·  Technical Project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10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1463040"/>
            <a:ext cx="10515600" cy="786384"/>
          </a:xfrm>
          <a:prstGeom prst="roundRect">
            <a:avLst>
              <a:gd name="adj" fmla="val 9000"/>
            </a:avLst>
          </a:prstGeom>
          <a:solidFill>
            <a:srgbClr val="1A253A"/>
          </a:solidFill>
          <a:ln w="9525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24128" y="1700784"/>
            <a:ext cx="310896" cy="310896"/>
          </a:xfrm>
          <a:prstGeom prst="ellipse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28" y="1714500"/>
            <a:ext cx="31089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220"/>
                </a:solidFill>
                <a:latin typeface="Segoe UI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15544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1F5F9"/>
                </a:solidFill>
                <a:latin typeface="Segoe UI"/>
              </a:rPr>
              <a:t>One Durable Object per 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60" y="1554480"/>
            <a:ext cx="6263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Rooms are keyed by code and live as globally addressable, co-located objects — instant, region-aware relay with persistent state.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2377440"/>
            <a:ext cx="10515600" cy="786384"/>
          </a:xfrm>
          <a:prstGeom prst="roundRect">
            <a:avLst>
              <a:gd name="adj" fmla="val 9000"/>
            </a:avLst>
          </a:prstGeom>
          <a:solidFill>
            <a:srgbClr val="1A253A"/>
          </a:solidFill>
          <a:ln w="9525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4128" y="2615184"/>
            <a:ext cx="310896" cy="310896"/>
          </a:xfrm>
          <a:prstGeom prst="ellipse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4128" y="2628900"/>
            <a:ext cx="31089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220"/>
                </a:solidFill>
                <a:latin typeface="Segoe UI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54480" y="24688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1F5F9"/>
                </a:solidFill>
                <a:latin typeface="Segoe UI"/>
              </a:rPr>
              <a:t>WebSocket relay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0" y="2468880"/>
            <a:ext cx="6263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The DO accepts sockets, binds identity to each connection, and fans every message out to the roster. Newcomers and reconnects get a full state snapshot.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" y="3291840"/>
            <a:ext cx="10515600" cy="786384"/>
          </a:xfrm>
          <a:prstGeom prst="roundRect">
            <a:avLst>
              <a:gd name="adj" fmla="val 9000"/>
            </a:avLst>
          </a:prstGeom>
          <a:solidFill>
            <a:srgbClr val="1A253A"/>
          </a:solidFill>
          <a:ln w="9525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24128" y="3529584"/>
            <a:ext cx="310896" cy="310896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4128" y="3543300"/>
            <a:ext cx="31089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220"/>
                </a:solidFill>
                <a:latin typeface="Segoe UI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54480" y="33832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1F5F9"/>
                </a:solidFill>
                <a:latin typeface="Segoe UI"/>
              </a:rPr>
              <a:t>Identity over the wire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37760" y="3383280"/>
            <a:ext cx="6263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A player can never impersonate another — identity is bound to the socket, and every action must carry the same playerId.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4206240"/>
            <a:ext cx="10515600" cy="786384"/>
          </a:xfrm>
          <a:prstGeom prst="roundRect">
            <a:avLst>
              <a:gd name="adj" fmla="val 9000"/>
            </a:avLst>
          </a:prstGeom>
          <a:solidFill>
            <a:srgbClr val="1A253A"/>
          </a:solidFill>
          <a:ln w="9525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24128" y="4443984"/>
            <a:ext cx="310896" cy="310896"/>
          </a:xfrm>
          <a:prstGeom prst="ellipse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4128" y="4457700"/>
            <a:ext cx="31089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220"/>
                </a:solidFill>
                <a:latin typeface="Segoe UI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54480" y="42976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1F5F9"/>
                </a:solidFill>
                <a:latin typeface="Segoe UI"/>
              </a:rPr>
              <a:t>Server functions as the API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37760" y="4297680"/>
            <a:ext cx="6263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Join, start, act and leave are server functions that validate tokens, enforce rules, persist to D1, and return the authoritative state.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2960" y="5120640"/>
            <a:ext cx="10515600" cy="786384"/>
          </a:xfrm>
          <a:prstGeom prst="roundRect">
            <a:avLst>
              <a:gd name="adj" fmla="val 9000"/>
            </a:avLst>
          </a:prstGeom>
          <a:solidFill>
            <a:srgbClr val="1A253A"/>
          </a:solidFill>
          <a:ln w="9525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24128" y="5358384"/>
            <a:ext cx="310896" cy="310896"/>
          </a:xfrm>
          <a:prstGeom prst="ellipse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24128" y="5372100"/>
            <a:ext cx="31089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220"/>
                </a:solidFill>
                <a:latin typeface="Segoe UI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54480" y="52120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1F5F9"/>
                </a:solidFill>
                <a:latin typeface="Segoe UI"/>
              </a:rPr>
              <a:t>CORS + upgrade handling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37760" y="5212080"/>
            <a:ext cx="6263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The Worker handles OPTIONS and WebSocket upgrades with a single, shared CORS policy.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0" y="365760"/>
            <a:ext cx="5669280" cy="5120640"/>
          </a:xfrm>
          <a:prstGeom prst="ellipse">
            <a:avLst/>
          </a:prstGeom>
          <a:solidFill>
            <a:srgbClr val="12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 rot="2028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028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E53935"/>
                </a:solidFill>
                <a:latin typeface="Segoe UI"/>
              </a:rPr>
              <a:t>UNO</a:t>
            </a:r>
          </a:p>
        </p:txBody>
      </p:sp>
      <p:sp>
        <p:nvSpPr>
          <p:cNvPr id="7" name="Rounded Rectangle 6"/>
          <p:cNvSpPr/>
          <p:nvPr/>
        </p:nvSpPr>
        <p:spPr>
          <a:xfrm rot="2112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 rot="2112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DD835"/>
                </a:solidFill>
                <a:latin typeface="Segoe UI"/>
              </a:rPr>
              <a:t>UNO</a:t>
            </a:r>
          </a:p>
        </p:txBody>
      </p:sp>
      <p:sp>
        <p:nvSpPr>
          <p:cNvPr id="10" name="Rounded Rectangle 9"/>
          <p:cNvSpPr/>
          <p:nvPr/>
        </p:nvSpPr>
        <p:spPr>
          <a:xfrm rot="48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 rot="48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43A047"/>
                </a:solidFill>
                <a:latin typeface="Segoe UI"/>
              </a:rPr>
              <a:t>UNO</a:t>
            </a:r>
          </a:p>
        </p:txBody>
      </p:sp>
      <p:sp>
        <p:nvSpPr>
          <p:cNvPr id="13" name="Rounded Rectangle 12"/>
          <p:cNvSpPr/>
          <p:nvPr/>
        </p:nvSpPr>
        <p:spPr>
          <a:xfrm rot="132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 rot="132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E88E5"/>
                </a:solidFill>
                <a:latin typeface="Segoe UI"/>
              </a:rPr>
              <a:t>UNO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3047923" cy="82296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47923" y="0"/>
            <a:ext cx="3047923" cy="82296"/>
          </a:xfrm>
          <a:prstGeom prst="rect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95846" y="0"/>
            <a:ext cx="3047923" cy="82296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3769" y="0"/>
            <a:ext cx="3047923" cy="82296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8404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53935"/>
                </a:solidFill>
                <a:latin typeface="Segoe UI"/>
              </a:rPr>
              <a:t>RELIABILITY THROUGH GRACEFUL DEGRADATION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58368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1F5F9"/>
                </a:solidFill>
                <a:latin typeface="Segoe UI"/>
              </a:rPr>
              <a:t>Realtime Transport Layer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" y="1225296"/>
            <a:ext cx="1234440" cy="41148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651052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WILD CARDS  ·  Technical Project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146304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1F5F9"/>
                </a:solidFill>
                <a:latin typeface="Segoe UI"/>
              </a:rPr>
              <a:t>Every client sends two signals: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1874519"/>
            <a:ext cx="4206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3A047"/>
                </a:solidFill>
                <a:latin typeface="Segoe UI"/>
              </a:rPr>
              <a:t>→ </a:t>
            </a:r>
            <a:r>
              <a:rPr sz="1250" b="1" i="0">
                <a:solidFill>
                  <a:srgbClr val="F1F5F9"/>
                </a:solidFill>
                <a:latin typeface="Segoe UI"/>
              </a:rPr>
              <a:t>sync nudges</a:t>
            </a:r>
            <a:r>
              <a:rPr sz="1250" b="0" i="0">
                <a:solidFill>
                  <a:srgbClr val="94A3B8"/>
                </a:solidFill>
                <a:latin typeface="Segoe UI"/>
              </a:rPr>
              <a:t>  “something changed, re-pull”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DD835"/>
                </a:solidFill>
                <a:latin typeface="Segoe UI"/>
              </a:rPr>
              <a:t>→ </a:t>
            </a:r>
            <a:r>
              <a:rPr sz="1250" b="1" i="0">
                <a:solidFill>
                  <a:srgbClr val="F1F5F9"/>
                </a:solidFill>
                <a:latin typeface="Segoe UI"/>
              </a:rPr>
              <a:t>join / leave / hello</a:t>
            </a:r>
            <a:r>
              <a:rPr sz="1250" b="0" i="0">
                <a:solidFill>
                  <a:srgbClr val="94A3B8"/>
                </a:solidFill>
                <a:latin typeface="Segoe UI"/>
              </a:rPr>
              <a:t>  roster events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2788920"/>
            <a:ext cx="10515600" cy="987552"/>
          </a:xfrm>
          <a:prstGeom prst="roundRect">
            <a:avLst>
              <a:gd name="adj" fmla="val 9000"/>
            </a:avLst>
          </a:prstGeom>
          <a:solidFill>
            <a:srgbClr val="1A253A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51560" y="2916936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100" b="0">
                <a:solidFill>
                  <a:srgbClr val="0B1220"/>
                </a:solidFill>
                <a:latin typeface="Consolas"/>
              </a:rPr>
              <a:t>LAYER 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40280" y="289864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1F5F9"/>
                </a:solidFill>
                <a:latin typeface="Segoe UI"/>
              </a:rPr>
              <a:t>WebSocket → Durable Object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326440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Segoe UI"/>
              </a:rPr>
              <a:t>Primary path. The Worker fans out events to every peer over a persistent socket. Reconnect-safe: newcomers receive the full latest state.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3931920"/>
            <a:ext cx="10515600" cy="987552"/>
          </a:xfrm>
          <a:prstGeom prst="roundRect">
            <a:avLst>
              <a:gd name="adj" fmla="val 9000"/>
            </a:avLst>
          </a:prstGeom>
          <a:solidFill>
            <a:srgbClr val="1A253A"/>
          </a:solidFill>
          <a:ln w="19050">
            <a:solidFill>
              <a:srgbClr val="FDD8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51560" y="4059936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100" b="0">
                <a:solidFill>
                  <a:srgbClr val="0B1220"/>
                </a:solidFill>
                <a:latin typeface="Consolas"/>
              </a:rPr>
              <a:t>LAYER 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40280" y="404164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1F5F9"/>
                </a:solidFill>
                <a:latin typeface="Segoe UI"/>
              </a:rPr>
              <a:t>Supabase Realtime Broadcast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440740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Segoe UI"/>
              </a:rPr>
              <a:t>Fallback transport. Broadcasts channeled through Supabase when the WS origin is not deployed or reachable.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" y="5074920"/>
            <a:ext cx="10515600" cy="987552"/>
          </a:xfrm>
          <a:prstGeom prst="roundRect">
            <a:avLst>
              <a:gd name="adj" fmla="val 9000"/>
            </a:avLst>
          </a:prstGeom>
          <a:solidFill>
            <a:srgbClr val="1A253A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51560" y="5202936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100" b="0">
                <a:solidFill>
                  <a:srgbClr val="0B1220"/>
                </a:solidFill>
                <a:latin typeface="Consolas"/>
              </a:rPr>
              <a:t>LAYER 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0280" y="518464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1F5F9"/>
                </a:solidFill>
                <a:latin typeface="Segoe UI"/>
              </a:rPr>
              <a:t>BroadcastChannel (same browser)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555040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Segoe UI"/>
              </a:rPr>
              <a:t>Local fallback. Cross-tab rooms on the same machine need zero network — perfect for demos and quick multiplayer.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4748B"/>
                </a:solidFill>
                <a:latin typeface="Segoe UI"/>
              </a:rPr>
              <a:t>A 3-second poller re-pulls authoritative state regardless of transport, so clients always converge even if a push is missed.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0" y="365760"/>
            <a:ext cx="5669280" cy="5120640"/>
          </a:xfrm>
          <a:prstGeom prst="ellipse">
            <a:avLst/>
          </a:prstGeom>
          <a:solidFill>
            <a:srgbClr val="12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 rot="2028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028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E53935"/>
                </a:solidFill>
                <a:latin typeface="Segoe UI"/>
              </a:rPr>
              <a:t>UNO</a:t>
            </a:r>
          </a:p>
        </p:txBody>
      </p:sp>
      <p:sp>
        <p:nvSpPr>
          <p:cNvPr id="7" name="Rounded Rectangle 6"/>
          <p:cNvSpPr/>
          <p:nvPr/>
        </p:nvSpPr>
        <p:spPr>
          <a:xfrm rot="2112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 rot="2112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DD835"/>
                </a:solidFill>
                <a:latin typeface="Segoe UI"/>
              </a:rPr>
              <a:t>UNO</a:t>
            </a:r>
          </a:p>
        </p:txBody>
      </p:sp>
      <p:sp>
        <p:nvSpPr>
          <p:cNvPr id="10" name="Rounded Rectangle 9"/>
          <p:cNvSpPr/>
          <p:nvPr/>
        </p:nvSpPr>
        <p:spPr>
          <a:xfrm rot="48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 rot="48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43A047"/>
                </a:solidFill>
                <a:latin typeface="Segoe UI"/>
              </a:rPr>
              <a:t>UNO</a:t>
            </a:r>
          </a:p>
        </p:txBody>
      </p:sp>
      <p:sp>
        <p:nvSpPr>
          <p:cNvPr id="13" name="Rounded Rectangle 12"/>
          <p:cNvSpPr/>
          <p:nvPr/>
        </p:nvSpPr>
        <p:spPr>
          <a:xfrm rot="132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 rot="132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E88E5"/>
                </a:solidFill>
                <a:latin typeface="Segoe UI"/>
              </a:rPr>
              <a:t>UNO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3047923" cy="82296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47923" y="0"/>
            <a:ext cx="3047923" cy="82296"/>
          </a:xfrm>
          <a:prstGeom prst="rect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95846" y="0"/>
            <a:ext cx="3047923" cy="82296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3769" y="0"/>
            <a:ext cx="3047923" cy="82296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8404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53935"/>
                </a:solidFill>
                <a:latin typeface="Segoe UI"/>
              </a:rPr>
              <a:t>PURE, DETERMINISTIC TYPESCRIPT — ZERO DEPENDENCIES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58368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1F5F9"/>
                </a:solidFill>
                <a:latin typeface="Segoe UI"/>
              </a:rPr>
              <a:t>Server-Authoritative Game Engine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" y="1225296"/>
            <a:ext cx="1234440" cy="41148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651052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WILD CARDS  ·  Technical Project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12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1463040"/>
            <a:ext cx="2743200" cy="786384"/>
          </a:xfrm>
          <a:prstGeom prst="roundRect">
            <a:avLst>
              <a:gd name="adj" fmla="val 5500"/>
            </a:avLst>
          </a:prstGeom>
          <a:solidFill>
            <a:srgbClr val="1A253A"/>
          </a:solidFill>
          <a:ln w="12700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1463040"/>
            <a:ext cx="64008" cy="786384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2" y="1627632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1F5F9"/>
                </a:solidFill>
                <a:latin typeface="Segoe UI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" y="2029968"/>
            <a:ext cx="2286000" cy="54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Segoe UI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1581912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1F5F9"/>
                </a:solidFill>
                <a:latin typeface="Segoe UI"/>
              </a:rPr>
              <a:t>Deterministic core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1554480"/>
            <a:ext cx="7406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The same pure functions create games, apply actions and score rounds — the server is the single source of truth.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2377440"/>
            <a:ext cx="2743200" cy="786384"/>
          </a:xfrm>
          <a:prstGeom prst="roundRect">
            <a:avLst>
              <a:gd name="adj" fmla="val 5500"/>
            </a:avLst>
          </a:prstGeom>
          <a:solidFill>
            <a:srgbClr val="1A253A"/>
          </a:solidFill>
          <a:ln w="12700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2960" y="2377440"/>
            <a:ext cx="64008" cy="786384"/>
          </a:xfrm>
          <a:prstGeom prst="rect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78992" y="2542032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1F5F9"/>
                </a:solidFill>
                <a:latin typeface="Segoe UI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" y="2944368"/>
            <a:ext cx="2286000" cy="54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Segoe UI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2496312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1F5F9"/>
                </a:solidFill>
                <a:latin typeface="Segoe UI"/>
              </a:rPr>
              <a:t>Strict move validation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94760" y="2468880"/>
            <a:ext cx="7406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Every play is checked: is it this player's turn, is the card legal, is a color chosen for wilds, is the +2/+4 stack respected?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2960" y="3291840"/>
            <a:ext cx="2743200" cy="786384"/>
          </a:xfrm>
          <a:prstGeom prst="roundRect">
            <a:avLst>
              <a:gd name="adj" fmla="val 5500"/>
            </a:avLst>
          </a:prstGeom>
          <a:solidFill>
            <a:srgbClr val="1A253A"/>
          </a:solidFill>
          <a:ln w="12700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2960" y="3291840"/>
            <a:ext cx="64008" cy="786384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78992" y="3456432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1F5F9"/>
                </a:solidFill>
                <a:latin typeface="Segoe UI"/>
              </a:rPr>
              <a:t/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8992" y="3858768"/>
            <a:ext cx="2286000" cy="54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Segoe UI"/>
              </a:rPr>
              <a:t/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3410712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1F5F9"/>
                </a:solidFill>
                <a:latin typeface="Segoe UI"/>
              </a:rPr>
              <a:t>Full UNO ruleset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94760" y="3383280"/>
            <a:ext cx="7406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Skip, reverse (acts as skip with 2 players), draw-2 and wild+4 stacking chains, wild color selection, missed-UNO penalty (+2).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" y="4206240"/>
            <a:ext cx="2743200" cy="786384"/>
          </a:xfrm>
          <a:prstGeom prst="roundRect">
            <a:avLst>
              <a:gd name="adj" fmla="val 5500"/>
            </a:avLst>
          </a:prstGeom>
          <a:solidFill>
            <a:srgbClr val="1A253A"/>
          </a:solidFill>
          <a:ln w="12700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960" y="4206240"/>
            <a:ext cx="64008" cy="786384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78992" y="4370832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1F5F9"/>
                </a:solidFill>
                <a:latin typeface="Segoe UI"/>
              </a:rPr>
              <a:t/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78992" y="4773168"/>
            <a:ext cx="2286000" cy="54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Segoe UI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4128" y="4325112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1F5F9"/>
                </a:solidFill>
                <a:latin typeface="Segoe UI"/>
              </a:rPr>
              <a:t>Automatic turn timeouts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4760" y="4297680"/>
            <a:ext cx="7406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A 30s timer auto-draws for idle players so games never stall.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22960" y="5120640"/>
            <a:ext cx="2743200" cy="786384"/>
          </a:xfrm>
          <a:prstGeom prst="roundRect">
            <a:avLst>
              <a:gd name="adj" fmla="val 5500"/>
            </a:avLst>
          </a:prstGeom>
          <a:solidFill>
            <a:srgbClr val="1A253A"/>
          </a:solidFill>
          <a:ln w="12700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22960" y="5120640"/>
            <a:ext cx="64008" cy="786384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78992" y="5285232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1F5F9"/>
                </a:solidFill>
                <a:latin typeface="Segoe UI"/>
              </a:rPr>
              <a:t/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78992" y="5687568"/>
            <a:ext cx="2286000" cy="54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Segoe UI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4128" y="5239512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1F5F9"/>
                </a:solidFill>
                <a:latin typeface="Segoe UI"/>
              </a:rPr>
              <a:t>Scoring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94760" y="5212080"/>
            <a:ext cx="7406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Winners bank the face value of every card left in opponents' hands — numbers, 20 for action cards, 50 for wilds.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22960" y="5989320"/>
            <a:ext cx="10515600" cy="457200"/>
          </a:xfrm>
          <a:prstGeom prst="roundRect">
            <a:avLst>
              <a:gd name="adj" fmla="val 12000"/>
            </a:avLst>
          </a:prstGeom>
          <a:solidFill>
            <a:srgbClr val="121B2E"/>
          </a:solidFill>
          <a:ln w="12700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51560" y="6062472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3A047"/>
                </a:solidFill>
                <a:latin typeface="Consolas"/>
              </a:rPr>
              <a:t>engine.ts  </a:t>
            </a:r>
            <a:r>
              <a:rPr sz="1050" b="0" i="0">
                <a:solidFill>
                  <a:srgbClr val="94A3B8"/>
                </a:solidFill>
                <a:latin typeface="Consolas"/>
              </a:rPr>
              <a:t>createGame() · applyAction() · canPlay() · legalCards() · handleTimeout()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0" y="365760"/>
            <a:ext cx="5669280" cy="5120640"/>
          </a:xfrm>
          <a:prstGeom prst="ellipse">
            <a:avLst/>
          </a:prstGeom>
          <a:solidFill>
            <a:srgbClr val="12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 rot="2028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028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E53935"/>
                </a:solidFill>
                <a:latin typeface="Segoe UI"/>
              </a:rPr>
              <a:t>UNO</a:t>
            </a:r>
          </a:p>
        </p:txBody>
      </p:sp>
      <p:sp>
        <p:nvSpPr>
          <p:cNvPr id="7" name="Rounded Rectangle 6"/>
          <p:cNvSpPr/>
          <p:nvPr/>
        </p:nvSpPr>
        <p:spPr>
          <a:xfrm rot="2112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 rot="2112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DD835"/>
                </a:solidFill>
                <a:latin typeface="Segoe UI"/>
              </a:rPr>
              <a:t>UNO</a:t>
            </a:r>
          </a:p>
        </p:txBody>
      </p:sp>
      <p:sp>
        <p:nvSpPr>
          <p:cNvPr id="10" name="Rounded Rectangle 9"/>
          <p:cNvSpPr/>
          <p:nvPr/>
        </p:nvSpPr>
        <p:spPr>
          <a:xfrm rot="48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 rot="48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43A047"/>
                </a:solidFill>
                <a:latin typeface="Segoe UI"/>
              </a:rPr>
              <a:t>UNO</a:t>
            </a:r>
          </a:p>
        </p:txBody>
      </p:sp>
      <p:sp>
        <p:nvSpPr>
          <p:cNvPr id="13" name="Rounded Rectangle 12"/>
          <p:cNvSpPr/>
          <p:nvPr/>
        </p:nvSpPr>
        <p:spPr>
          <a:xfrm rot="132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 rot="132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E88E5"/>
                </a:solidFill>
                <a:latin typeface="Segoe UI"/>
              </a:rPr>
              <a:t>UNO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3047923" cy="82296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47923" y="0"/>
            <a:ext cx="3047923" cy="82296"/>
          </a:xfrm>
          <a:prstGeom prst="rect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95846" y="0"/>
            <a:ext cx="3047923" cy="82296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3769" y="0"/>
            <a:ext cx="3047923" cy="82296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8404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53935"/>
                </a:solidFill>
                <a:latin typeface="Segoe UI"/>
              </a:rPr>
              <a:t>SESSIONS, PERSISTENCE AND LIVE PLAY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58368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1F5F9"/>
                </a:solidFill>
                <a:latin typeface="Segoe UI"/>
              </a:rPr>
              <a:t>Data, Auth &amp; Multiplayer Flow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" y="1225296"/>
            <a:ext cx="1234440" cy="41148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651052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WILD CARDS  ·  Technical Project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141732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1F5F9"/>
                </a:solidFill>
                <a:latin typeface="Segoe UI"/>
              </a:rPr>
              <a:t>Guest-first identity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1874519"/>
            <a:ext cx="5120640" cy="914400"/>
          </a:xfrm>
          <a:prstGeom prst="roundRect">
            <a:avLst>
              <a:gd name="adj" fmla="val 9000"/>
            </a:avLst>
          </a:prstGeom>
          <a:solidFill>
            <a:srgbClr val="1A253A"/>
          </a:solidFill>
          <a:ln w="9525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28" y="1965959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1F5F9"/>
                </a:solidFill>
                <a:latin typeface="Segoe UI"/>
              </a:rPr>
              <a:t>Guest sessions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" y="2258567"/>
            <a:ext cx="4754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Segoe UI"/>
              </a:rPr>
              <a:t>No signup — a local profile (id, name, avatar) is created on first visit.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2916934"/>
            <a:ext cx="5120640" cy="914400"/>
          </a:xfrm>
          <a:prstGeom prst="roundRect">
            <a:avLst>
              <a:gd name="adj" fmla="val 9000"/>
            </a:avLst>
          </a:prstGeom>
          <a:solidFill>
            <a:srgbClr val="1A253A"/>
          </a:solidFill>
          <a:ln w="9525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" y="3008374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1F5F9"/>
                </a:solidFill>
                <a:latin typeface="Segoe UI"/>
              </a:rPr>
              <a:t>JWT per room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3300982"/>
            <a:ext cx="4754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Segoe UI"/>
              </a:rPr>
              <a:t>Joining a room returns a token stored in localStorage; every action carries it.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3959349"/>
            <a:ext cx="5120640" cy="914400"/>
          </a:xfrm>
          <a:prstGeom prst="roundRect">
            <a:avLst>
              <a:gd name="adj" fmla="val 9000"/>
            </a:avLst>
          </a:prstGeom>
          <a:solidFill>
            <a:srgbClr val="1A253A"/>
          </a:solidFill>
          <a:ln w="9525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4128" y="4050789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1F5F9"/>
                </a:solidFill>
                <a:latin typeface="Segoe UI"/>
              </a:rPr>
              <a:t>D1 persistence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4128" y="4343397"/>
            <a:ext cx="4754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Segoe UI"/>
              </a:rPr>
              <a:t>Profiles, game history, wins and leaderboard stats are persisted in SQLite.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" y="5001764"/>
            <a:ext cx="5120640" cy="914400"/>
          </a:xfrm>
          <a:prstGeom prst="roundRect">
            <a:avLst>
              <a:gd name="adj" fmla="val 9000"/>
            </a:avLst>
          </a:prstGeom>
          <a:solidFill>
            <a:srgbClr val="1A253A"/>
          </a:solidFill>
          <a:ln w="9525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4128" y="5093204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1F5F9"/>
                </a:solidFill>
                <a:latin typeface="Segoe UI"/>
              </a:rPr>
              <a:t>Privacy by design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" y="5385812"/>
            <a:ext cx="4754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Segoe UI"/>
              </a:rPr>
              <a:t>Clients only ever receive their own hand — opponents' cards never leave the server.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141732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1F5F9"/>
                </a:solidFill>
                <a:latin typeface="Segoe UI"/>
              </a:rPr>
              <a:t>Live multiplayer loop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0" y="1874519"/>
            <a:ext cx="4572000" cy="713232"/>
          </a:xfrm>
          <a:prstGeom prst="roundRect">
            <a:avLst>
              <a:gd name="adj" fmla="val 14000"/>
            </a:avLst>
          </a:prstGeom>
          <a:solidFill>
            <a:srgbClr val="1A253A"/>
          </a:solidFill>
          <a:ln w="15875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565392" y="2057399"/>
            <a:ext cx="310896" cy="310896"/>
          </a:xfrm>
          <a:prstGeom prst="ellipse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65392" y="2071115"/>
            <a:ext cx="31089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220"/>
                </a:solidFill>
                <a:latin typeface="Segoe UI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67728" y="1965959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1F5F9"/>
                </a:solidFill>
                <a:latin typeface="Segoe UI"/>
              </a:rPr>
              <a:t>Create / Join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67728" y="2258567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A3B8"/>
                </a:solidFill>
                <a:latin typeface="Segoe UI"/>
              </a:rPr>
              <a:t>room code + token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8686800" y="2587751"/>
            <a:ext cx="0" cy="73152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6400800" y="2715767"/>
            <a:ext cx="4572000" cy="713232"/>
          </a:xfrm>
          <a:prstGeom prst="roundRect">
            <a:avLst>
              <a:gd name="adj" fmla="val 14000"/>
            </a:avLst>
          </a:prstGeom>
          <a:solidFill>
            <a:srgbClr val="1A253A"/>
          </a:solidFill>
          <a:ln w="15875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565392" y="2898647"/>
            <a:ext cx="310896" cy="310896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65392" y="2912363"/>
            <a:ext cx="31089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220"/>
                </a:solidFill>
                <a:latin typeface="Segoe UI"/>
              </a:rP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67728" y="2807207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1F5F9"/>
                </a:solidFill>
                <a:latin typeface="Segoe UI"/>
              </a:rPr>
              <a:t>Connect transport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67728" y="3099815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A3B8"/>
                </a:solidFill>
                <a:latin typeface="Segoe UI"/>
              </a:rPr>
              <a:t>WS / Supabase / BC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686800" y="3428999"/>
            <a:ext cx="0" cy="73152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6400800" y="3557015"/>
            <a:ext cx="4572000" cy="713232"/>
          </a:xfrm>
          <a:prstGeom prst="roundRect">
            <a:avLst>
              <a:gd name="adj" fmla="val 14000"/>
            </a:avLst>
          </a:prstGeom>
          <a:solidFill>
            <a:srgbClr val="1A253A"/>
          </a:solidFill>
          <a:ln w="15875">
            <a:solidFill>
              <a:srgbClr val="FDD8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565392" y="3739895"/>
            <a:ext cx="310896" cy="310896"/>
          </a:xfrm>
          <a:prstGeom prst="ellipse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65392" y="3753611"/>
            <a:ext cx="31089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220"/>
                </a:solidFill>
                <a:latin typeface="Segoe UI"/>
              </a:rPr>
              <a:t>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67728" y="3648455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1F5F9"/>
                </a:solidFill>
                <a:latin typeface="Segoe UI"/>
              </a:rPr>
              <a:t>Dispatch action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67728" y="3941063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A3B8"/>
                </a:solidFill>
                <a:latin typeface="Segoe UI"/>
              </a:rPr>
              <a:t>play · draw · uno · color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8686800" y="4270247"/>
            <a:ext cx="0" cy="73152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6400800" y="4398263"/>
            <a:ext cx="4572000" cy="713232"/>
          </a:xfrm>
          <a:prstGeom prst="roundRect">
            <a:avLst>
              <a:gd name="adj" fmla="val 14000"/>
            </a:avLst>
          </a:prstGeom>
          <a:solidFill>
            <a:srgbClr val="1A253A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565392" y="4581143"/>
            <a:ext cx="310896" cy="310896"/>
          </a:xfrm>
          <a:prstGeom prst="ellipse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565392" y="4594859"/>
            <a:ext cx="31089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220"/>
                </a:solidFill>
                <a:latin typeface="Segoe UI"/>
              </a:rPr>
              <a:t>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67728" y="4489703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1F5F9"/>
                </a:solidFill>
                <a:latin typeface="Segoe UI"/>
              </a:rPr>
              <a:t>Engine validates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967728" y="4782311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A3B8"/>
                </a:solidFill>
                <a:latin typeface="Segoe UI"/>
              </a:rPr>
              <a:t>turn + legality + rules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8686800" y="5111495"/>
            <a:ext cx="0" cy="73152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6400800" y="5239511"/>
            <a:ext cx="4572000" cy="713232"/>
          </a:xfrm>
          <a:prstGeom prst="roundRect">
            <a:avLst>
              <a:gd name="adj" fmla="val 14000"/>
            </a:avLst>
          </a:prstGeom>
          <a:solidFill>
            <a:srgbClr val="1A253A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565392" y="5422391"/>
            <a:ext cx="310896" cy="310896"/>
          </a:xfrm>
          <a:prstGeom prst="ellipse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65392" y="5436107"/>
            <a:ext cx="31089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220"/>
                </a:solidFill>
                <a:latin typeface="Segoe UI"/>
              </a:rPr>
              <a:t>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67728" y="5330951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1F5F9"/>
                </a:solidFill>
                <a:latin typeface="Segoe UI"/>
              </a:rPr>
              <a:t>Authoritative state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967728" y="5623559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A3B8"/>
                </a:solidFill>
                <a:latin typeface="Segoe UI"/>
              </a:rPr>
              <a:t>fan-out to all peers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0" y="365760"/>
            <a:ext cx="5669280" cy="5120640"/>
          </a:xfrm>
          <a:prstGeom prst="ellipse">
            <a:avLst/>
          </a:prstGeom>
          <a:solidFill>
            <a:srgbClr val="12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 rot="2028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028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E53935"/>
                </a:solidFill>
                <a:latin typeface="Segoe UI"/>
              </a:rPr>
              <a:t>UNO</a:t>
            </a:r>
          </a:p>
        </p:txBody>
      </p:sp>
      <p:sp>
        <p:nvSpPr>
          <p:cNvPr id="7" name="Rounded Rectangle 6"/>
          <p:cNvSpPr/>
          <p:nvPr/>
        </p:nvSpPr>
        <p:spPr>
          <a:xfrm rot="2112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 rot="2112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DD835"/>
                </a:solidFill>
                <a:latin typeface="Segoe UI"/>
              </a:rPr>
              <a:t>UNO</a:t>
            </a:r>
          </a:p>
        </p:txBody>
      </p:sp>
      <p:sp>
        <p:nvSpPr>
          <p:cNvPr id="10" name="Rounded Rectangle 9"/>
          <p:cNvSpPr/>
          <p:nvPr/>
        </p:nvSpPr>
        <p:spPr>
          <a:xfrm rot="48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 rot="48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43A047"/>
                </a:solidFill>
                <a:latin typeface="Segoe UI"/>
              </a:rPr>
              <a:t>UNO</a:t>
            </a:r>
          </a:p>
        </p:txBody>
      </p:sp>
      <p:sp>
        <p:nvSpPr>
          <p:cNvPr id="13" name="Rounded Rectangle 12"/>
          <p:cNvSpPr/>
          <p:nvPr/>
        </p:nvSpPr>
        <p:spPr>
          <a:xfrm rot="132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 rot="132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E88E5"/>
                </a:solidFill>
                <a:latin typeface="Segoe UI"/>
              </a:rPr>
              <a:t>UNO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3047923" cy="82296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47923" y="0"/>
            <a:ext cx="3047923" cy="82296"/>
          </a:xfrm>
          <a:prstGeom prst="rect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95846" y="0"/>
            <a:ext cx="3047923" cy="82296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3769" y="0"/>
            <a:ext cx="3047923" cy="82296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8404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53935"/>
                </a:solidFill>
                <a:latin typeface="Segoe UI"/>
              </a:rPr>
              <a:t>SHIP TO THE EDGE, VERIFY EVERY COMMIT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58368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1F5F9"/>
                </a:solidFill>
                <a:latin typeface="Segoe UI"/>
              </a:rPr>
              <a:t>Deployment &amp; Continuous Integration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" y="1225296"/>
            <a:ext cx="1234440" cy="41148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651052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WILD CARDS  ·  Technical Project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14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14630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1F5F9"/>
                </a:solidFill>
                <a:latin typeface="Segoe UI"/>
              </a:rPr>
              <a:t>Deployment targets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1938528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900" b="0">
                <a:solidFill>
                  <a:srgbClr val="0B1220"/>
                </a:solidFill>
                <a:latin typeface="Consolas"/>
              </a:rPr>
              <a:t>FRONTEND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0" y="192024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Segoe UI"/>
              </a:rPr>
              <a:t>Cloudflare Pages — static build of the React app, edge-cached, globally distributed.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2834640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900" b="0">
                <a:solidFill>
                  <a:srgbClr val="0B1220"/>
                </a:solidFill>
                <a:latin typeface="Consolas"/>
              </a:rPr>
              <a:t>BACKEND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51760" y="2816352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Segoe UI"/>
              </a:rPr>
              <a:t>Cloudflare Workers — Durable Object room server deployed via wrangler.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3730752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900" b="0">
                <a:solidFill>
                  <a:srgbClr val="0B1220"/>
                </a:solidFill>
                <a:latin typeface="Consolas"/>
              </a:rPr>
              <a:t>REALTIME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51760" y="3712464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Segoe UI"/>
              </a:rPr>
              <a:t>WebSocket origin on the Worker; Supabase channels as fallback.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626864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900" b="0">
                <a:solidFill>
                  <a:srgbClr val="0B1220"/>
                </a:solidFill>
                <a:latin typeface="Consolas"/>
              </a:rPr>
              <a:t>DATABASE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51760" y="4608576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Segoe UI"/>
              </a:rPr>
              <a:t>Cloudflare D1 (SQLite) for profiles, history and leaderboard.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14630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1F5F9"/>
                </a:solidFill>
                <a:latin typeface="Segoe UI"/>
              </a:rPr>
              <a:t>CI pipeline — GitHub Actions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0" y="1920240"/>
            <a:ext cx="4206240" cy="960120"/>
          </a:xfrm>
          <a:prstGeom prst="roundRect">
            <a:avLst>
              <a:gd name="adj" fmla="val 9000"/>
            </a:avLst>
          </a:prstGeom>
          <a:solidFill>
            <a:srgbClr val="1A253A"/>
          </a:solidFill>
          <a:ln w="9525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132320" y="1920240"/>
            <a:ext cx="54864" cy="96012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60920" y="20299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1F5F9"/>
                </a:solidFill>
                <a:latin typeface="Segoe UI"/>
              </a:rPr>
              <a:t>Typecheck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09760" y="202996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88E5"/>
                </a:solidFill>
                <a:latin typeface="Consolas"/>
              </a:rPr>
              <a:t>tsc --noEmit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60920" y="237744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Segoe UI"/>
              </a:rPr>
              <a:t>strict, no silent type drift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132320" y="3063240"/>
            <a:ext cx="4206240" cy="960120"/>
          </a:xfrm>
          <a:prstGeom prst="roundRect">
            <a:avLst>
              <a:gd name="adj" fmla="val 9000"/>
            </a:avLst>
          </a:prstGeom>
          <a:solidFill>
            <a:srgbClr val="1A253A"/>
          </a:solidFill>
          <a:ln w="9525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132320" y="3063240"/>
            <a:ext cx="54864" cy="96012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60920" y="31729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1F5F9"/>
                </a:solidFill>
                <a:latin typeface="Segoe UI"/>
              </a:rPr>
              <a:t>Build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09760" y="317296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3A047"/>
                </a:solidFill>
                <a:latin typeface="Consolas"/>
              </a:rPr>
              <a:t>vite build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60920" y="352044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Segoe UI"/>
              </a:rPr>
              <a:t>production bundle compiles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132320" y="4206240"/>
            <a:ext cx="4206240" cy="960120"/>
          </a:xfrm>
          <a:prstGeom prst="roundRect">
            <a:avLst>
              <a:gd name="adj" fmla="val 9000"/>
            </a:avLst>
          </a:prstGeom>
          <a:solidFill>
            <a:srgbClr val="1A253A"/>
          </a:solidFill>
          <a:ln w="9525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132320" y="4206240"/>
            <a:ext cx="54864" cy="960120"/>
          </a:xfrm>
          <a:prstGeom prst="rect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60920" y="43159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1F5F9"/>
                </a:solidFill>
                <a:latin typeface="Segoe UI"/>
              </a:rPr>
              <a:t>Lint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09760" y="431596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DD835"/>
                </a:solidFill>
                <a:latin typeface="Consolas"/>
              </a:rPr>
              <a:t>eslint 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60920" y="466344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Segoe UI"/>
              </a:rPr>
              <a:t>code quality gates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22960" y="5532120"/>
            <a:ext cx="10515600" cy="777240"/>
          </a:xfrm>
          <a:prstGeom prst="roundRect">
            <a:avLst>
              <a:gd name="adj" fmla="val 5500"/>
            </a:avLst>
          </a:prstGeom>
          <a:solidFill>
            <a:srgbClr val="1A253A"/>
          </a:solidFill>
          <a:ln w="12700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22960" y="5532120"/>
            <a:ext cx="64008" cy="77724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78992" y="56967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1F5F9"/>
                </a:solidFill>
                <a:latin typeface="Segoe UI"/>
              </a:rPr>
              <a:t>One command to deploy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78992" y="6099048"/>
            <a:ext cx="10058400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cd worker &amp;&amp; wrangler deploy  —  then point VITE_REALTIME_WS_URL at the new wss:// origin. The frontend builds and ships independently.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0" y="365760"/>
            <a:ext cx="5669280" cy="5120640"/>
          </a:xfrm>
          <a:prstGeom prst="ellipse">
            <a:avLst/>
          </a:prstGeom>
          <a:solidFill>
            <a:srgbClr val="12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 rot="2028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028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E53935"/>
                </a:solidFill>
                <a:latin typeface="Segoe UI"/>
              </a:rPr>
              <a:t>UNO</a:t>
            </a:r>
          </a:p>
        </p:txBody>
      </p:sp>
      <p:sp>
        <p:nvSpPr>
          <p:cNvPr id="7" name="Rounded Rectangle 6"/>
          <p:cNvSpPr/>
          <p:nvPr/>
        </p:nvSpPr>
        <p:spPr>
          <a:xfrm rot="2112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 rot="2112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DD835"/>
                </a:solidFill>
                <a:latin typeface="Segoe UI"/>
              </a:rPr>
              <a:t>UNO</a:t>
            </a:r>
          </a:p>
        </p:txBody>
      </p:sp>
      <p:sp>
        <p:nvSpPr>
          <p:cNvPr id="10" name="Rounded Rectangle 9"/>
          <p:cNvSpPr/>
          <p:nvPr/>
        </p:nvSpPr>
        <p:spPr>
          <a:xfrm rot="48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 rot="48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43A047"/>
                </a:solidFill>
                <a:latin typeface="Segoe UI"/>
              </a:rPr>
              <a:t>UNO</a:t>
            </a:r>
          </a:p>
        </p:txBody>
      </p:sp>
      <p:sp>
        <p:nvSpPr>
          <p:cNvPr id="13" name="Rounded Rectangle 12"/>
          <p:cNvSpPr/>
          <p:nvPr/>
        </p:nvSpPr>
        <p:spPr>
          <a:xfrm rot="132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 rot="132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E88E5"/>
                </a:solidFill>
                <a:latin typeface="Segoe UI"/>
              </a:rPr>
              <a:t>UNO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3047923" cy="82296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47923" y="0"/>
            <a:ext cx="3047923" cy="82296"/>
          </a:xfrm>
          <a:prstGeom prst="rect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95846" y="0"/>
            <a:ext cx="3047923" cy="82296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3769" y="0"/>
            <a:ext cx="3047923" cy="82296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8404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53935"/>
                </a:solidFill>
                <a:latin typeface="Segoe UI"/>
              </a:rPr>
              <a:t>FROM MATCH SETUP TO THE WINNING CARD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58368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1F5F9"/>
                </a:solidFill>
                <a:latin typeface="Segoe UI"/>
              </a:rPr>
              <a:t>Gameplay Experience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" y="1225296"/>
            <a:ext cx="1234440" cy="41148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651052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WILD CARDS  ·  Technical Project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15</a:t>
            </a:r>
          </a:p>
        </p:txBody>
      </p:sp>
      <p:pic>
        <p:nvPicPr>
          <p:cNvPr id="25" name="Picture 24" descr="play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4023360" cy="255328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22960" y="5623560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Segoe UI"/>
              </a:rPr>
              <a:t>Choose your challenge — bots or a private room</a:t>
            </a:r>
          </a:p>
        </p:txBody>
      </p:sp>
      <p:pic>
        <p:nvPicPr>
          <p:cNvPr id="27" name="Picture 26" descr="game-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1691640"/>
            <a:ext cx="6035040" cy="37719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349240" y="562356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Segoe UI"/>
              </a:rPr>
              <a:t>Live board — opponents, deck, discard pile, turn timer and move log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0" y="365760"/>
            <a:ext cx="5669280" cy="5120640"/>
          </a:xfrm>
          <a:prstGeom prst="ellipse">
            <a:avLst/>
          </a:prstGeom>
          <a:solidFill>
            <a:srgbClr val="12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 rot="2028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028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E53935"/>
                </a:solidFill>
                <a:latin typeface="Segoe UI"/>
              </a:rPr>
              <a:t>UNO</a:t>
            </a:r>
          </a:p>
        </p:txBody>
      </p:sp>
      <p:sp>
        <p:nvSpPr>
          <p:cNvPr id="7" name="Rounded Rectangle 6"/>
          <p:cNvSpPr/>
          <p:nvPr/>
        </p:nvSpPr>
        <p:spPr>
          <a:xfrm rot="2112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 rot="2112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DD835"/>
                </a:solidFill>
                <a:latin typeface="Segoe UI"/>
              </a:rPr>
              <a:t>UNO</a:t>
            </a:r>
          </a:p>
        </p:txBody>
      </p:sp>
      <p:sp>
        <p:nvSpPr>
          <p:cNvPr id="10" name="Rounded Rectangle 9"/>
          <p:cNvSpPr/>
          <p:nvPr/>
        </p:nvSpPr>
        <p:spPr>
          <a:xfrm rot="48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 rot="48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43A047"/>
                </a:solidFill>
                <a:latin typeface="Segoe UI"/>
              </a:rPr>
              <a:t>UNO</a:t>
            </a:r>
          </a:p>
        </p:txBody>
      </p:sp>
      <p:sp>
        <p:nvSpPr>
          <p:cNvPr id="13" name="Rounded Rectangle 12"/>
          <p:cNvSpPr/>
          <p:nvPr/>
        </p:nvSpPr>
        <p:spPr>
          <a:xfrm rot="132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 rot="132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E88E5"/>
                </a:solidFill>
                <a:latin typeface="Segoe UI"/>
              </a:rPr>
              <a:t>UNO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3047923" cy="82296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47923" y="0"/>
            <a:ext cx="3047923" cy="82296"/>
          </a:xfrm>
          <a:prstGeom prst="rect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95846" y="0"/>
            <a:ext cx="3047923" cy="82296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3769" y="0"/>
            <a:ext cx="3047923" cy="82296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8404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53935"/>
                </a:solidFill>
                <a:latin typeface="Segoe UI"/>
              </a:rPr>
              <a:t>GATHER THE CREW IN SECONDS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58368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1F5F9"/>
                </a:solidFill>
                <a:latin typeface="Segoe UI"/>
              </a:rPr>
              <a:t>Private Rooms &amp; Lobby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" y="1225296"/>
            <a:ext cx="1234440" cy="41148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651052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WILD CARDS  ·  Technical Project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16</a:t>
            </a:r>
          </a:p>
        </p:txBody>
      </p:sp>
      <p:pic>
        <p:nvPicPr>
          <p:cNvPr id="25" name="Picture 24" descr="lobby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5029200" cy="314325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22960" y="52578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Segoe UI"/>
              </a:rPr>
              <a:t>Create or join a room by 6-letter code</a:t>
            </a:r>
          </a:p>
        </p:txBody>
      </p:sp>
      <p:pic>
        <p:nvPicPr>
          <p:cNvPr id="27" name="Picture 26" descr="room-lobb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91640"/>
            <a:ext cx="5029200" cy="314325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309360" y="52578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Segoe UI"/>
              </a:rPr>
              <a:t>Room lobby — copy invite link, host starts when ready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8064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1F5F9"/>
                </a:solidFill>
                <a:latin typeface="Segoe UI"/>
              </a:rPr>
              <a:t>How it works:  </a:t>
            </a:r>
            <a:r>
              <a:rPr sz="1200" b="0" i="0">
                <a:solidFill>
                  <a:srgbClr val="94A3B8"/>
                </a:solidFill>
                <a:latin typeface="Segoe UI"/>
              </a:rPr>
              <a:t>Host opens a room → gets a code + link → shares it → players join from any device → the host deals the first round.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0" y="365760"/>
            <a:ext cx="5669280" cy="5120640"/>
          </a:xfrm>
          <a:prstGeom prst="ellipse">
            <a:avLst/>
          </a:prstGeom>
          <a:solidFill>
            <a:srgbClr val="12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 rot="2028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028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E53935"/>
                </a:solidFill>
                <a:latin typeface="Segoe UI"/>
              </a:rPr>
              <a:t>UNO</a:t>
            </a:r>
          </a:p>
        </p:txBody>
      </p:sp>
      <p:sp>
        <p:nvSpPr>
          <p:cNvPr id="7" name="Rounded Rectangle 6"/>
          <p:cNvSpPr/>
          <p:nvPr/>
        </p:nvSpPr>
        <p:spPr>
          <a:xfrm rot="2112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 rot="2112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DD835"/>
                </a:solidFill>
                <a:latin typeface="Segoe UI"/>
              </a:rPr>
              <a:t>UNO</a:t>
            </a:r>
          </a:p>
        </p:txBody>
      </p:sp>
      <p:sp>
        <p:nvSpPr>
          <p:cNvPr id="10" name="Rounded Rectangle 9"/>
          <p:cNvSpPr/>
          <p:nvPr/>
        </p:nvSpPr>
        <p:spPr>
          <a:xfrm rot="48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 rot="48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43A047"/>
                </a:solidFill>
                <a:latin typeface="Segoe UI"/>
              </a:rPr>
              <a:t>UNO</a:t>
            </a:r>
          </a:p>
        </p:txBody>
      </p:sp>
      <p:sp>
        <p:nvSpPr>
          <p:cNvPr id="13" name="Rounded Rectangle 12"/>
          <p:cNvSpPr/>
          <p:nvPr/>
        </p:nvSpPr>
        <p:spPr>
          <a:xfrm rot="132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 rot="132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E88E5"/>
                </a:solidFill>
                <a:latin typeface="Segoe UI"/>
              </a:rPr>
              <a:t>UNO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3047923" cy="82296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47923" y="0"/>
            <a:ext cx="3047923" cy="82296"/>
          </a:xfrm>
          <a:prstGeom prst="rect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95846" y="0"/>
            <a:ext cx="3047923" cy="82296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3769" y="0"/>
            <a:ext cx="3047923" cy="82296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8404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53935"/>
                </a:solidFill>
                <a:latin typeface="Segoe UI"/>
              </a:rPr>
              <a:t>EVERY GAME COUNTS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58368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1F5F9"/>
                </a:solidFill>
                <a:latin typeface="Segoe UI"/>
              </a:rPr>
              <a:t>Stats &amp; Progression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" y="1225296"/>
            <a:ext cx="1234440" cy="41148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651052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WILD CARDS  ·  Technical Project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17</a:t>
            </a:r>
          </a:p>
        </p:txBody>
      </p:sp>
      <p:pic>
        <p:nvPicPr>
          <p:cNvPr id="25" name="Picture 24" descr="leaderboard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5029200" cy="314325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22960" y="52578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Segoe UI"/>
              </a:rPr>
              <a:t>Global leaderboard — win streaks and totals</a:t>
            </a:r>
          </a:p>
        </p:txBody>
      </p:sp>
      <p:pic>
        <p:nvPicPr>
          <p:cNvPr id="27" name="Picture 26" descr="profile-p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029200" cy="314325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309360" y="53492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Segoe UI"/>
              </a:rPr>
              <a:t>Personal profile — games, wins and history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8064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1F5F9"/>
                </a:solidFill>
                <a:latin typeface="Segoe UI"/>
              </a:rPr>
              <a:t>No accounts:  </a:t>
            </a:r>
            <a:r>
              <a:rPr sz="1200" b="0" i="0">
                <a:solidFill>
                  <a:srgbClr val="94A3B8"/>
                </a:solidFill>
                <a:latin typeface="Segoe UI"/>
              </a:rPr>
              <a:t>a guest profile follows the player across sessions via local storage; leaderboard stats are server-persisted in D1.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0" y="365760"/>
            <a:ext cx="5669280" cy="5120640"/>
          </a:xfrm>
          <a:prstGeom prst="ellipse">
            <a:avLst/>
          </a:prstGeom>
          <a:solidFill>
            <a:srgbClr val="12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 rot="2028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028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E53935"/>
                </a:solidFill>
                <a:latin typeface="Segoe UI"/>
              </a:rPr>
              <a:t>UNO</a:t>
            </a:r>
          </a:p>
        </p:txBody>
      </p:sp>
      <p:sp>
        <p:nvSpPr>
          <p:cNvPr id="7" name="Rounded Rectangle 6"/>
          <p:cNvSpPr/>
          <p:nvPr/>
        </p:nvSpPr>
        <p:spPr>
          <a:xfrm rot="2112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 rot="2112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DD835"/>
                </a:solidFill>
                <a:latin typeface="Segoe UI"/>
              </a:rPr>
              <a:t>UNO</a:t>
            </a:r>
          </a:p>
        </p:txBody>
      </p:sp>
      <p:sp>
        <p:nvSpPr>
          <p:cNvPr id="10" name="Rounded Rectangle 9"/>
          <p:cNvSpPr/>
          <p:nvPr/>
        </p:nvSpPr>
        <p:spPr>
          <a:xfrm rot="48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 rot="48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43A047"/>
                </a:solidFill>
                <a:latin typeface="Segoe UI"/>
              </a:rPr>
              <a:t>UNO</a:t>
            </a:r>
          </a:p>
        </p:txBody>
      </p:sp>
      <p:sp>
        <p:nvSpPr>
          <p:cNvPr id="13" name="Rounded Rectangle 12"/>
          <p:cNvSpPr/>
          <p:nvPr/>
        </p:nvSpPr>
        <p:spPr>
          <a:xfrm rot="132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 rot="132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E88E5"/>
                </a:solidFill>
                <a:latin typeface="Segoe UI"/>
              </a:rPr>
              <a:t>UNO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3047923" cy="82296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47923" y="0"/>
            <a:ext cx="3047923" cy="82296"/>
          </a:xfrm>
          <a:prstGeom prst="rect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95846" y="0"/>
            <a:ext cx="3047923" cy="82296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3769" y="0"/>
            <a:ext cx="3047923" cy="82296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8404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53935"/>
                </a:solidFill>
                <a:latin typeface="Segoe UI"/>
              </a:rPr>
              <a:t>ENGINEERING UNDER PRESSURE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58368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1F5F9"/>
                </a:solidFill>
                <a:latin typeface="Segoe UI"/>
              </a:rPr>
              <a:t>Performance, Security &amp; Reliability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" y="1225296"/>
            <a:ext cx="1234440" cy="41148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651052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WILD CARDS  ·  Technical Project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1463040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3A047"/>
                </a:solidFill>
                <a:latin typeface="Segoe UI"/>
              </a:rPr>
              <a:t>PERFORMANCE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1901952"/>
            <a:ext cx="3337560" cy="987552"/>
          </a:xfrm>
          <a:prstGeom prst="roundRect">
            <a:avLst>
              <a:gd name="adj" fmla="val 8000"/>
            </a:avLst>
          </a:prstGeom>
          <a:solidFill>
            <a:srgbClr val="1A253A"/>
          </a:solidFill>
          <a:ln w="9525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1901952"/>
            <a:ext cx="45720" cy="987552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7552" y="1975104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1F5F9"/>
                </a:solidFill>
                <a:latin typeface="Segoe UI"/>
              </a:rPr>
              <a:t>Edge-distributed rooms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" y="2249424"/>
            <a:ext cx="306324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Segoe UI"/>
              </a:rPr>
              <a:t>Durable Objects run close to players; static assets are served from the Cloudflare edge cache.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3035808"/>
            <a:ext cx="3337560" cy="987552"/>
          </a:xfrm>
          <a:prstGeom prst="roundRect">
            <a:avLst>
              <a:gd name="adj" fmla="val 8000"/>
            </a:avLst>
          </a:prstGeom>
          <a:solidFill>
            <a:srgbClr val="1A253A"/>
          </a:solidFill>
          <a:ln w="9525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3035808"/>
            <a:ext cx="45720" cy="987552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3108960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1F5F9"/>
                </a:solidFill>
                <a:latin typeface="Segoe UI"/>
              </a:rPr>
              <a:t>Slim realtime protocol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" y="3383280"/>
            <a:ext cx="306324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Segoe UI"/>
              </a:rPr>
              <a:t>Only 'sync' nudges and roster events travel the wire — state is pulled once, rendered locally.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4169664"/>
            <a:ext cx="3337560" cy="987552"/>
          </a:xfrm>
          <a:prstGeom prst="roundRect">
            <a:avLst>
              <a:gd name="adj" fmla="val 8000"/>
            </a:avLst>
          </a:prstGeom>
          <a:solidFill>
            <a:srgbClr val="1A253A"/>
          </a:solidFill>
          <a:ln w="9525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22960" y="4169664"/>
            <a:ext cx="45720" cy="987552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4242816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1F5F9"/>
                </a:solidFill>
                <a:latin typeface="Segoe UI"/>
              </a:rPr>
              <a:t>Lazy hydration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" y="4517136"/>
            <a:ext cx="306324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Segoe UI"/>
              </a:rPr>
              <a:t>Client routes hydrate only when needed; animations are GPU-friendly.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4840" y="1463040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53935"/>
                </a:solidFill>
                <a:latin typeface="Segoe UI"/>
              </a:rPr>
              <a:t>SECURITY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434840" y="1901952"/>
            <a:ext cx="3337560" cy="987552"/>
          </a:xfrm>
          <a:prstGeom prst="roundRect">
            <a:avLst>
              <a:gd name="adj" fmla="val 8000"/>
            </a:avLst>
          </a:prstGeom>
          <a:solidFill>
            <a:srgbClr val="1A253A"/>
          </a:solidFill>
          <a:ln w="9525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34840" y="1901952"/>
            <a:ext cx="45720" cy="987552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99432" y="1975104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1F5F9"/>
                </a:solidFill>
                <a:latin typeface="Segoe UI"/>
              </a:rPr>
              <a:t>Server-authoritative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99432" y="2249424"/>
            <a:ext cx="306324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Segoe UI"/>
              </a:rPr>
              <a:t>No client trust: dealing, shuffling, legality and scoring all happen server-side.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434840" y="3035808"/>
            <a:ext cx="3337560" cy="987552"/>
          </a:xfrm>
          <a:prstGeom prst="roundRect">
            <a:avLst>
              <a:gd name="adj" fmla="val 8000"/>
            </a:avLst>
          </a:prstGeom>
          <a:solidFill>
            <a:srgbClr val="1A253A"/>
          </a:solidFill>
          <a:ln w="9525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434840" y="3035808"/>
            <a:ext cx="45720" cy="987552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99432" y="3108960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1F5F9"/>
                </a:solidFill>
                <a:latin typeface="Segoe UI"/>
              </a:rPr>
              <a:t>Socket-bound identity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99432" y="3383280"/>
            <a:ext cx="306324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Segoe UI"/>
              </a:rPr>
              <a:t>Actions carry the same playerId as the socket — impersonation is structurally impossible.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434840" y="4169664"/>
            <a:ext cx="3337560" cy="987552"/>
          </a:xfrm>
          <a:prstGeom prst="roundRect">
            <a:avLst>
              <a:gd name="adj" fmla="val 8000"/>
            </a:avLst>
          </a:prstGeom>
          <a:solidFill>
            <a:srgbClr val="1A253A"/>
          </a:solidFill>
          <a:ln w="9525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434840" y="4169664"/>
            <a:ext cx="45720" cy="987552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99432" y="4242816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1F5F9"/>
                </a:solidFill>
                <a:latin typeface="Segoe UI"/>
              </a:rPr>
              <a:t>JWT room tokens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99432" y="4517136"/>
            <a:ext cx="306324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Segoe UI"/>
              </a:rPr>
              <a:t>Every room action is authenticated; tokens persist per room in localStorage.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434840" y="5303520"/>
            <a:ext cx="3337560" cy="987552"/>
          </a:xfrm>
          <a:prstGeom prst="roundRect">
            <a:avLst>
              <a:gd name="adj" fmla="val 8000"/>
            </a:avLst>
          </a:prstGeom>
          <a:solidFill>
            <a:srgbClr val="1A253A"/>
          </a:solidFill>
          <a:ln w="9525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434840" y="5303520"/>
            <a:ext cx="45720" cy="987552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99432" y="5376672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1F5F9"/>
                </a:solidFill>
                <a:latin typeface="Segoe UI"/>
              </a:rPr>
              <a:t>Hand privacy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99432" y="5650992"/>
            <a:ext cx="306324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Segoe UI"/>
              </a:rPr>
              <a:t>A player never receives opponents' cards — the server only broadcasts results.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46720" y="1463040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E88E5"/>
                </a:solidFill>
                <a:latin typeface="Segoe UI"/>
              </a:rPr>
              <a:t>RELIABILITY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46720" y="1901952"/>
            <a:ext cx="3337560" cy="987552"/>
          </a:xfrm>
          <a:prstGeom prst="roundRect">
            <a:avLst>
              <a:gd name="adj" fmla="val 8000"/>
            </a:avLst>
          </a:prstGeom>
          <a:solidFill>
            <a:srgbClr val="1A253A"/>
          </a:solidFill>
          <a:ln w="9525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046720" y="1901952"/>
            <a:ext cx="45720" cy="987552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11312" y="1975104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1F5F9"/>
                </a:solidFill>
                <a:latin typeface="Segoe UI"/>
              </a:rPr>
              <a:t>Graceful transport fallback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11312" y="2249424"/>
            <a:ext cx="306324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Segoe UI"/>
              </a:rPr>
              <a:t>WS → Supabase → BroadcastChannel with a 3s poller that guarantees convergence.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046720" y="3035808"/>
            <a:ext cx="3337560" cy="987552"/>
          </a:xfrm>
          <a:prstGeom prst="roundRect">
            <a:avLst>
              <a:gd name="adj" fmla="val 8000"/>
            </a:avLst>
          </a:prstGeom>
          <a:solidFill>
            <a:srgbClr val="1A253A"/>
          </a:solidFill>
          <a:ln w="9525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046720" y="3035808"/>
            <a:ext cx="45720" cy="987552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211312" y="3108960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1F5F9"/>
                </a:solidFill>
                <a:latin typeface="Segoe UI"/>
              </a:rPr>
              <a:t>Reconnect snapshots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11312" y="3383280"/>
            <a:ext cx="306324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Segoe UI"/>
              </a:rPr>
              <a:t>Late joiners and reconnects receive the full authoritative state instantly.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046720" y="4169664"/>
            <a:ext cx="3337560" cy="987552"/>
          </a:xfrm>
          <a:prstGeom prst="roundRect">
            <a:avLst>
              <a:gd name="adj" fmla="val 8000"/>
            </a:avLst>
          </a:prstGeom>
          <a:solidFill>
            <a:srgbClr val="1A253A"/>
          </a:solidFill>
          <a:ln w="9525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046720" y="4169664"/>
            <a:ext cx="45720" cy="987552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211312" y="4242816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1F5F9"/>
                </a:solidFill>
                <a:latin typeface="Segoe UI"/>
              </a:rPr>
              <a:t>CI enforcement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11312" y="4517136"/>
            <a:ext cx="306324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Segoe UI"/>
              </a:rPr>
              <a:t>Typecheck, build and lint gate every commit to prevent regressions.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0" y="365760"/>
            <a:ext cx="5669280" cy="5120640"/>
          </a:xfrm>
          <a:prstGeom prst="ellipse">
            <a:avLst/>
          </a:prstGeom>
          <a:solidFill>
            <a:srgbClr val="12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 rot="2028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028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E53935"/>
                </a:solidFill>
                <a:latin typeface="Segoe UI"/>
              </a:rPr>
              <a:t>UNO</a:t>
            </a:r>
          </a:p>
        </p:txBody>
      </p:sp>
      <p:sp>
        <p:nvSpPr>
          <p:cNvPr id="7" name="Rounded Rectangle 6"/>
          <p:cNvSpPr/>
          <p:nvPr/>
        </p:nvSpPr>
        <p:spPr>
          <a:xfrm rot="2112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 rot="2112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DD835"/>
                </a:solidFill>
                <a:latin typeface="Segoe UI"/>
              </a:rPr>
              <a:t>UNO</a:t>
            </a:r>
          </a:p>
        </p:txBody>
      </p:sp>
      <p:sp>
        <p:nvSpPr>
          <p:cNvPr id="10" name="Rounded Rectangle 9"/>
          <p:cNvSpPr/>
          <p:nvPr/>
        </p:nvSpPr>
        <p:spPr>
          <a:xfrm rot="48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 rot="48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43A047"/>
                </a:solidFill>
                <a:latin typeface="Segoe UI"/>
              </a:rPr>
              <a:t>UNO</a:t>
            </a:r>
          </a:p>
        </p:txBody>
      </p:sp>
      <p:sp>
        <p:nvSpPr>
          <p:cNvPr id="13" name="Rounded Rectangle 12"/>
          <p:cNvSpPr/>
          <p:nvPr/>
        </p:nvSpPr>
        <p:spPr>
          <a:xfrm rot="132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 rot="132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E88E5"/>
                </a:solidFill>
                <a:latin typeface="Segoe UI"/>
              </a:rPr>
              <a:t>UNO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3047923" cy="82296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47923" y="0"/>
            <a:ext cx="3047923" cy="82296"/>
          </a:xfrm>
          <a:prstGeom prst="rect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95846" y="0"/>
            <a:ext cx="3047923" cy="82296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3769" y="0"/>
            <a:ext cx="3047923" cy="82296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8404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53935"/>
                </a:solidFill>
                <a:latin typeface="Segoe UI"/>
              </a:rPr>
              <a:t>REAL PROBLEMS, ENGINEERED ANSWERS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58368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1F5F9"/>
                </a:solidFill>
                <a:latin typeface="Segoe UI"/>
              </a:rPr>
              <a:t>Challenges &amp; Solutions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" y="1225296"/>
            <a:ext cx="1234440" cy="41148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651052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WILD CARDS  ·  Technical Project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19</a:t>
            </a:r>
          </a:p>
        </p:txBody>
      </p:sp>
      <p:sp>
        <p:nvSpPr>
          <p:cNvPr id="25" name="Oval 24"/>
          <p:cNvSpPr/>
          <p:nvPr/>
        </p:nvSpPr>
        <p:spPr>
          <a:xfrm>
            <a:off x="868680" y="1481328"/>
            <a:ext cx="310896" cy="310896"/>
          </a:xfrm>
          <a:prstGeom prst="ellipse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1495044"/>
            <a:ext cx="31089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220"/>
                </a:solidFill>
                <a:latin typeface="Segoe UI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146304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1F5F9"/>
                </a:solidFill>
                <a:latin typeface="Segoe UI"/>
              </a:rPr>
              <a:t>Realtime that survives anything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1773936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53935"/>
                </a:solidFill>
                <a:latin typeface="Segoe UI"/>
              </a:rPr>
              <a:t>Issue: </a:t>
            </a:r>
            <a:r>
              <a:rPr sz="950" b="0" i="0">
                <a:solidFill>
                  <a:srgbClr val="94A3B8"/>
                </a:solidFill>
                <a:latin typeface="Segoe UI"/>
              </a:rPr>
              <a:t>Fragile single-channel WebSockets.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17720" y="1444752"/>
            <a:ext cx="27432" cy="841248"/>
          </a:xfrm>
          <a:prstGeom prst="rect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0" y="1481328"/>
            <a:ext cx="6492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3A047"/>
                </a:solidFill>
                <a:latin typeface="Segoe UI"/>
              </a:rPr>
              <a:t>Solution: </a:t>
            </a:r>
            <a:r>
              <a:rPr sz="1050" b="0" i="0">
                <a:solidFill>
                  <a:srgbClr val="94A3B8"/>
                </a:solidFill>
                <a:latin typeface="Segoe UI"/>
              </a:rPr>
              <a:t>Built an auto-selecting transport (WS → Supabase → BroadcastChannel) plus a 3s state poller, so clients always converge even when a push is lost.</a:t>
            </a:r>
          </a:p>
        </p:txBody>
      </p:sp>
      <p:sp>
        <p:nvSpPr>
          <p:cNvPr id="31" name="Oval 30"/>
          <p:cNvSpPr/>
          <p:nvPr/>
        </p:nvSpPr>
        <p:spPr>
          <a:xfrm>
            <a:off x="868680" y="2432304"/>
            <a:ext cx="310896" cy="310896"/>
          </a:xfrm>
          <a:prstGeom prst="ellipse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2446020"/>
            <a:ext cx="31089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220"/>
                </a:solidFill>
                <a:latin typeface="Segoe UI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2414016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1F5F9"/>
                </a:solidFill>
                <a:latin typeface="Segoe UI"/>
              </a:rPr>
              <a:t>Cheat-proof multiplayer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272491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53935"/>
                </a:solidFill>
                <a:latin typeface="Segoe UI"/>
              </a:rPr>
              <a:t>Issue: </a:t>
            </a:r>
            <a:r>
              <a:rPr sz="950" b="0" i="0">
                <a:solidFill>
                  <a:srgbClr val="94A3B8"/>
                </a:solidFill>
                <a:latin typeface="Segoe UI"/>
              </a:rPr>
              <a:t>Client-authoritative games are trivially hackable.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17720" y="2395728"/>
            <a:ext cx="27432" cy="841248"/>
          </a:xfrm>
          <a:prstGeom prst="rect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46320" y="2432304"/>
            <a:ext cx="6492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3A047"/>
                </a:solidFill>
                <a:latin typeface="Segoe UI"/>
              </a:rPr>
              <a:t>Solution: </a:t>
            </a:r>
            <a:r>
              <a:rPr sz="1050" b="0" i="0">
                <a:solidFill>
                  <a:srgbClr val="94A3B8"/>
                </a:solidFill>
                <a:latin typeface="Segoe UI"/>
              </a:rPr>
              <a:t>Moved every decision into a deterministic server engine; clients receive only their own hand and can only nudge peers to re-pull state.</a:t>
            </a:r>
          </a:p>
        </p:txBody>
      </p:sp>
      <p:sp>
        <p:nvSpPr>
          <p:cNvPr id="37" name="Oval 36"/>
          <p:cNvSpPr/>
          <p:nvPr/>
        </p:nvSpPr>
        <p:spPr>
          <a:xfrm>
            <a:off x="868680" y="3383280"/>
            <a:ext cx="310896" cy="310896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3396996"/>
            <a:ext cx="31089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220"/>
                </a:solidFill>
                <a:latin typeface="Segoe UI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0" y="336499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1F5F9"/>
                </a:solidFill>
                <a:latin typeface="Segoe UI"/>
              </a:rPr>
              <a:t>Concurrency in card games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" y="3675888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53935"/>
                </a:solidFill>
                <a:latin typeface="Segoe UI"/>
              </a:rPr>
              <a:t>Issue: </a:t>
            </a:r>
            <a:r>
              <a:rPr sz="950" b="0" i="0">
                <a:solidFill>
                  <a:srgbClr val="94A3B8"/>
                </a:solidFill>
                <a:latin typeface="Segoe UI"/>
              </a:rPr>
              <a:t>Double-plays, stale actions, race conditions.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17720" y="3346704"/>
            <a:ext cx="27432" cy="841248"/>
          </a:xfrm>
          <a:prstGeom prst="rect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46320" y="3383280"/>
            <a:ext cx="6492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3A047"/>
                </a:solidFill>
                <a:latin typeface="Segoe UI"/>
              </a:rPr>
              <a:t>Solution: </a:t>
            </a:r>
            <a:r>
              <a:rPr sz="1050" b="0" i="0">
                <a:solidFill>
                  <a:srgbClr val="94A3B8"/>
                </a:solidFill>
                <a:latin typeface="Segoe UI"/>
              </a:rPr>
              <a:t>Room sequence numbers, socket-bound identity, and re-fetch-on-nudge semantics make every action idempotent and self-healing.</a:t>
            </a:r>
          </a:p>
        </p:txBody>
      </p:sp>
      <p:sp>
        <p:nvSpPr>
          <p:cNvPr id="43" name="Oval 42"/>
          <p:cNvSpPr/>
          <p:nvPr/>
        </p:nvSpPr>
        <p:spPr>
          <a:xfrm>
            <a:off x="868680" y="4334256"/>
            <a:ext cx="310896" cy="310896"/>
          </a:xfrm>
          <a:prstGeom prst="ellipse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8680" y="4347972"/>
            <a:ext cx="31089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220"/>
                </a:solidFill>
                <a:latin typeface="Segoe UI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71600" y="431596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1F5F9"/>
                </a:solidFill>
                <a:latin typeface="Segoe UI"/>
              </a:rPr>
              <a:t>Type-safety across the wire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1600" y="4626864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53935"/>
                </a:solidFill>
                <a:latin typeface="Segoe UI"/>
              </a:rPr>
              <a:t>Issue: </a:t>
            </a:r>
            <a:r>
              <a:rPr sz="950" b="0" i="0">
                <a:solidFill>
                  <a:srgbClr val="94A3B8"/>
                </a:solidFill>
                <a:latin typeface="Segoe UI"/>
              </a:rPr>
              <a:t>Mismatched client/server contracts.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17720" y="4297680"/>
            <a:ext cx="27432" cy="841248"/>
          </a:xfrm>
          <a:prstGeom prst="rect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846320" y="4334256"/>
            <a:ext cx="6492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3A047"/>
                </a:solidFill>
                <a:latin typeface="Segoe UI"/>
              </a:rPr>
              <a:t>Solution: </a:t>
            </a:r>
            <a:r>
              <a:rPr sz="1050" b="0" i="0">
                <a:solidFill>
                  <a:srgbClr val="94A3B8"/>
                </a:solidFill>
                <a:latin typeface="Segoe UI"/>
              </a:rPr>
              <a:t>Zod-validated search params and shared types between client and server functions keep the contract compile-time checked end to end.</a:t>
            </a:r>
          </a:p>
        </p:txBody>
      </p:sp>
      <p:sp>
        <p:nvSpPr>
          <p:cNvPr id="49" name="Oval 48"/>
          <p:cNvSpPr/>
          <p:nvPr/>
        </p:nvSpPr>
        <p:spPr>
          <a:xfrm>
            <a:off x="868680" y="5285232"/>
            <a:ext cx="310896" cy="310896"/>
          </a:xfrm>
          <a:prstGeom prst="ellipse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" y="5298948"/>
            <a:ext cx="31089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220"/>
                </a:solidFill>
                <a:latin typeface="Segoe UI"/>
              </a:rPr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71600" y="526694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1F5F9"/>
                </a:solidFill>
                <a:latin typeface="Segoe UI"/>
              </a:rPr>
              <a:t>Keep the build green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71600" y="557784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53935"/>
                </a:solidFill>
                <a:latin typeface="Segoe UI"/>
              </a:rPr>
              <a:t>Issue: </a:t>
            </a:r>
            <a:r>
              <a:rPr sz="950" b="0" i="0">
                <a:solidFill>
                  <a:srgbClr val="94A3B8"/>
                </a:solidFill>
                <a:latin typeface="Segoe UI"/>
              </a:rPr>
              <a:t>Every commit risks regressions.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617720" y="5248656"/>
            <a:ext cx="27432" cy="841248"/>
          </a:xfrm>
          <a:prstGeom prst="rect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846320" y="5285232"/>
            <a:ext cx="6492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3A047"/>
                </a:solidFill>
                <a:latin typeface="Segoe UI"/>
              </a:rPr>
              <a:t>Solution: </a:t>
            </a:r>
            <a:r>
              <a:rPr sz="1050" b="0" i="0">
                <a:solidFill>
                  <a:srgbClr val="94A3B8"/>
                </a:solidFill>
                <a:latin typeface="Segoe UI"/>
              </a:rPr>
              <a:t>CI runs typecheck, build and lint; a strict ESLint config (including the no-control-regex edge case) keeps the pipeline passing.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0" y="365760"/>
            <a:ext cx="5669280" cy="5120640"/>
          </a:xfrm>
          <a:prstGeom prst="ellipse">
            <a:avLst/>
          </a:prstGeom>
          <a:solidFill>
            <a:srgbClr val="12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 rot="2028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028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E53935"/>
                </a:solidFill>
                <a:latin typeface="Segoe UI"/>
              </a:rPr>
              <a:t>UNO</a:t>
            </a:r>
          </a:p>
        </p:txBody>
      </p:sp>
      <p:sp>
        <p:nvSpPr>
          <p:cNvPr id="7" name="Rounded Rectangle 6"/>
          <p:cNvSpPr/>
          <p:nvPr/>
        </p:nvSpPr>
        <p:spPr>
          <a:xfrm rot="2112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 rot="2112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DD835"/>
                </a:solidFill>
                <a:latin typeface="Segoe UI"/>
              </a:rPr>
              <a:t>UNO</a:t>
            </a:r>
          </a:p>
        </p:txBody>
      </p:sp>
      <p:sp>
        <p:nvSpPr>
          <p:cNvPr id="10" name="Rounded Rectangle 9"/>
          <p:cNvSpPr/>
          <p:nvPr/>
        </p:nvSpPr>
        <p:spPr>
          <a:xfrm rot="48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 rot="48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43A047"/>
                </a:solidFill>
                <a:latin typeface="Segoe UI"/>
              </a:rPr>
              <a:t>UNO</a:t>
            </a:r>
          </a:p>
        </p:txBody>
      </p:sp>
      <p:sp>
        <p:nvSpPr>
          <p:cNvPr id="13" name="Rounded Rectangle 12"/>
          <p:cNvSpPr/>
          <p:nvPr/>
        </p:nvSpPr>
        <p:spPr>
          <a:xfrm rot="132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 rot="132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E88E5"/>
                </a:solidFill>
                <a:latin typeface="Segoe UI"/>
              </a:rPr>
              <a:t>UNO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3047923" cy="82296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47923" y="0"/>
            <a:ext cx="3047923" cy="82296"/>
          </a:xfrm>
          <a:prstGeom prst="rect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95846" y="0"/>
            <a:ext cx="3047923" cy="82296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3769" y="0"/>
            <a:ext cx="3047923" cy="82296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8404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53935"/>
                </a:solidFill>
                <a:latin typeface="Segoe UI"/>
              </a:rPr>
              <a:t>WHERE WILDCARDS GOES NEXT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58368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1F5F9"/>
                </a:solidFill>
                <a:latin typeface="Segoe UI"/>
              </a:rPr>
              <a:t>Future Scope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" y="1225296"/>
            <a:ext cx="1234440" cy="41148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651052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WILD CARDS  ·  Technical Project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20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1463040"/>
            <a:ext cx="3337560" cy="2103120"/>
          </a:xfrm>
          <a:prstGeom prst="roundRect">
            <a:avLst>
              <a:gd name="adj" fmla="val 5500"/>
            </a:avLst>
          </a:prstGeom>
          <a:solidFill>
            <a:srgbClr val="1A253A"/>
          </a:solidFill>
          <a:ln w="12700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1463040"/>
            <a:ext cx="64008" cy="2103120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2" y="1627632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1F5F9"/>
                </a:solidFill>
                <a:latin typeface="Segoe UI"/>
              </a:rPr>
              <a:t>Accounts &amp; OAuth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" y="2029968"/>
            <a:ext cx="2880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Let players claim their guest profile with email or social login and sync stats across devices.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34840" y="1463040"/>
            <a:ext cx="3337560" cy="2103120"/>
          </a:xfrm>
          <a:prstGeom prst="roundRect">
            <a:avLst>
              <a:gd name="adj" fmla="val 5500"/>
            </a:avLst>
          </a:prstGeom>
          <a:solidFill>
            <a:srgbClr val="1A253A"/>
          </a:solidFill>
          <a:ln w="12700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34840" y="1463040"/>
            <a:ext cx="64008" cy="2103120"/>
          </a:xfrm>
          <a:prstGeom prst="rect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0872" y="1627632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1F5F9"/>
                </a:solidFill>
                <a:latin typeface="Segoe UI"/>
              </a:rPr>
              <a:t>Matchmaking &amp; ladder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90872" y="2029968"/>
            <a:ext cx="2880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Ranked queues, ELO-style ratings and seasonal leaderboards for competitive play.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0" y="1463040"/>
            <a:ext cx="3337560" cy="2103120"/>
          </a:xfrm>
          <a:prstGeom prst="roundRect">
            <a:avLst>
              <a:gd name="adj" fmla="val 5500"/>
            </a:avLst>
          </a:prstGeom>
          <a:solidFill>
            <a:srgbClr val="1A253A"/>
          </a:solidFill>
          <a:ln w="12700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46720" y="1463040"/>
            <a:ext cx="64008" cy="210312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2752" y="1627632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1F5F9"/>
                </a:solidFill>
                <a:latin typeface="Segoe UI"/>
              </a:rPr>
              <a:t>AI difficulty tiers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2752" y="2029968"/>
            <a:ext cx="2880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Smarter bots with personality: aggressive, defensive and classic-strategy models.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2960" y="3794760"/>
            <a:ext cx="3337560" cy="2103120"/>
          </a:xfrm>
          <a:prstGeom prst="roundRect">
            <a:avLst>
              <a:gd name="adj" fmla="val 5500"/>
            </a:avLst>
          </a:prstGeom>
          <a:solidFill>
            <a:srgbClr val="1A253A"/>
          </a:solidFill>
          <a:ln w="12700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2960" y="3794760"/>
            <a:ext cx="64008" cy="210312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78992" y="3959352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1F5F9"/>
                </a:solidFill>
                <a:latin typeface="Segoe UI"/>
              </a:rPr>
              <a:t>Mobile-first &amp; PWA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8992" y="4361688"/>
            <a:ext cx="2880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Installable offline shell, touch-optimized controls, and push-friendly room invites.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434840" y="3794760"/>
            <a:ext cx="3337560" cy="2103120"/>
          </a:xfrm>
          <a:prstGeom prst="roundRect">
            <a:avLst>
              <a:gd name="adj" fmla="val 5500"/>
            </a:avLst>
          </a:prstGeom>
          <a:solidFill>
            <a:srgbClr val="1A253A"/>
          </a:solidFill>
          <a:ln w="12700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434840" y="3794760"/>
            <a:ext cx="64008" cy="2103120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90872" y="3959352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1F5F9"/>
                </a:solidFill>
                <a:latin typeface="Segoe UI"/>
              </a:rPr>
              <a:t>Tournaments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90872" y="4361688"/>
            <a:ext cx="2880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Brackets, timed events and custom house rules for organized play.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46720" y="3794760"/>
            <a:ext cx="3337560" cy="2103120"/>
          </a:xfrm>
          <a:prstGeom prst="roundRect">
            <a:avLst>
              <a:gd name="adj" fmla="val 5500"/>
            </a:avLst>
          </a:prstGeom>
          <a:solidFill>
            <a:srgbClr val="1A253A"/>
          </a:solidFill>
          <a:ln w="12700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046720" y="3794760"/>
            <a:ext cx="64008" cy="2103120"/>
          </a:xfrm>
          <a:prstGeom prst="rect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02752" y="3959352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1F5F9"/>
                </a:solidFill>
                <a:latin typeface="Segoe UI"/>
              </a:rPr>
              <a:t>Spectator mode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02752" y="4361688"/>
            <a:ext cx="2880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Watch live rooms with a full move history and commentary.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0" y="365760"/>
            <a:ext cx="5669280" cy="5120640"/>
          </a:xfrm>
          <a:prstGeom prst="ellipse">
            <a:avLst/>
          </a:prstGeom>
          <a:solidFill>
            <a:srgbClr val="12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 rot="2028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028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E53935"/>
                </a:solidFill>
                <a:latin typeface="Segoe UI"/>
              </a:rPr>
              <a:t>UNO</a:t>
            </a:r>
          </a:p>
        </p:txBody>
      </p:sp>
      <p:sp>
        <p:nvSpPr>
          <p:cNvPr id="7" name="Rounded Rectangle 6"/>
          <p:cNvSpPr/>
          <p:nvPr/>
        </p:nvSpPr>
        <p:spPr>
          <a:xfrm rot="2112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 rot="2112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DD835"/>
                </a:solidFill>
                <a:latin typeface="Segoe UI"/>
              </a:rPr>
              <a:t>UNO</a:t>
            </a:r>
          </a:p>
        </p:txBody>
      </p:sp>
      <p:sp>
        <p:nvSpPr>
          <p:cNvPr id="10" name="Rounded Rectangle 9"/>
          <p:cNvSpPr/>
          <p:nvPr/>
        </p:nvSpPr>
        <p:spPr>
          <a:xfrm rot="48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 rot="48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43A047"/>
                </a:solidFill>
                <a:latin typeface="Segoe UI"/>
              </a:rPr>
              <a:t>UNO</a:t>
            </a:r>
          </a:p>
        </p:txBody>
      </p:sp>
      <p:sp>
        <p:nvSpPr>
          <p:cNvPr id="13" name="Rounded Rectangle 12"/>
          <p:cNvSpPr/>
          <p:nvPr/>
        </p:nvSpPr>
        <p:spPr>
          <a:xfrm rot="132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 rot="132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E88E5"/>
                </a:solidFill>
                <a:latin typeface="Segoe UI"/>
              </a:rPr>
              <a:t>UNO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3047923" cy="82296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47923" y="0"/>
            <a:ext cx="3047923" cy="82296"/>
          </a:xfrm>
          <a:prstGeom prst="rect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95846" y="0"/>
            <a:ext cx="3047923" cy="82296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3769" y="0"/>
            <a:ext cx="3047923" cy="82296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8404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53935"/>
                </a:solidFill>
                <a:latin typeface="Segoe UI"/>
              </a:rPr>
              <a:t>SEE IT IN ACTION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58368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1F5F9"/>
                </a:solidFill>
                <a:latin typeface="Segoe UI"/>
              </a:rPr>
              <a:t>Live Demo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" y="1225296"/>
            <a:ext cx="1234440" cy="41148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651052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WILD CARDS  ·  Technical Project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16002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1F5F9"/>
                </a:solidFill>
                <a:latin typeface="Segoe UI"/>
              </a:rPr>
              <a:t>What we'll run through: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" y="2148840"/>
            <a:ext cx="310896" cy="310896"/>
          </a:xfrm>
          <a:prstGeom prst="ellipse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2162556"/>
            <a:ext cx="31089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220"/>
                </a:solidFill>
                <a:latin typeface="Segoe UI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212140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1F5F9"/>
                </a:solidFill>
                <a:latin typeface="Segoe UI"/>
              </a:rPr>
              <a:t>Start a game vs bots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2148840"/>
            <a:ext cx="6217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One click — bots fill the table and the first hand is dealt.</a:t>
            </a:r>
          </a:p>
        </p:txBody>
      </p:sp>
      <p:sp>
        <p:nvSpPr>
          <p:cNvPr id="30" name="Oval 29"/>
          <p:cNvSpPr/>
          <p:nvPr/>
        </p:nvSpPr>
        <p:spPr>
          <a:xfrm>
            <a:off x="868680" y="2898648"/>
            <a:ext cx="310896" cy="310896"/>
          </a:xfrm>
          <a:prstGeom prst="ellipse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2912364"/>
            <a:ext cx="31089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220"/>
                </a:solidFill>
                <a:latin typeface="Segoe UI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2871216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1F5F9"/>
                </a:solidFill>
                <a:latin typeface="Segoe UI"/>
              </a:rPr>
              <a:t>Open a private 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0640" y="2898648"/>
            <a:ext cx="6217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Create a room, copy the invite link, join from a second tab/device.</a:t>
            </a:r>
          </a:p>
        </p:txBody>
      </p:sp>
      <p:sp>
        <p:nvSpPr>
          <p:cNvPr id="34" name="Oval 33"/>
          <p:cNvSpPr/>
          <p:nvPr/>
        </p:nvSpPr>
        <p:spPr>
          <a:xfrm>
            <a:off x="868680" y="3648456"/>
            <a:ext cx="310896" cy="310896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3662172"/>
            <a:ext cx="31089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220"/>
                </a:solidFill>
                <a:latin typeface="Segoe UI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3621024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1F5F9"/>
                </a:solidFill>
                <a:latin typeface="Segoe UI"/>
              </a:rPr>
              <a:t>Play a full turn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0640" y="3648456"/>
            <a:ext cx="6217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Legal plays, wild color choice, draw, and the live turn timer.</a:t>
            </a:r>
          </a:p>
        </p:txBody>
      </p:sp>
      <p:sp>
        <p:nvSpPr>
          <p:cNvPr id="38" name="Oval 37"/>
          <p:cNvSpPr/>
          <p:nvPr/>
        </p:nvSpPr>
        <p:spPr>
          <a:xfrm>
            <a:off x="868680" y="4398264"/>
            <a:ext cx="310896" cy="310896"/>
          </a:xfrm>
          <a:prstGeom prst="ellipse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4411980"/>
            <a:ext cx="31089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220"/>
                </a:solidFill>
                <a:latin typeface="Segoe UI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" y="4370832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1F5F9"/>
                </a:solidFill>
                <a:latin typeface="Segoe UI"/>
              </a:rPr>
              <a:t>Trigger an edge case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20640" y="4398264"/>
            <a:ext cx="6217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Say UNO late, start a +2 / +4 chain, and watch the server enforce it.</a:t>
            </a:r>
          </a:p>
        </p:txBody>
      </p:sp>
      <p:sp>
        <p:nvSpPr>
          <p:cNvPr id="42" name="Oval 41"/>
          <p:cNvSpPr/>
          <p:nvPr/>
        </p:nvSpPr>
        <p:spPr>
          <a:xfrm>
            <a:off x="868680" y="5148072"/>
            <a:ext cx="310896" cy="310896"/>
          </a:xfrm>
          <a:prstGeom prst="ellipse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161788"/>
            <a:ext cx="31089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1220"/>
                </a:solidFill>
                <a:latin typeface="Segoe UI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71600" y="5120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1F5F9"/>
                </a:solidFill>
                <a:latin typeface="Segoe UI"/>
              </a:rPr>
              <a:t>Check the scoreboard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0640" y="5148072"/>
            <a:ext cx="6217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Finish a round and see the profile + leaderboard update.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22960" y="5806440"/>
            <a:ext cx="10515600" cy="685800"/>
          </a:xfrm>
          <a:prstGeom prst="roundRect">
            <a:avLst>
              <a:gd name="adj" fmla="val 5500"/>
            </a:avLst>
          </a:prstGeom>
          <a:solidFill>
            <a:srgbClr val="1A253A"/>
          </a:solidFill>
          <a:ln w="12700">
            <a:solidFill>
              <a:srgbClr val="2A3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22960" y="5806440"/>
            <a:ext cx="64008" cy="6858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78992" y="597103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1F5F9"/>
                </a:solidFill>
                <a:latin typeface="Segoe UI"/>
              </a:rPr>
              <a:t>Run locally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8992" y="6373368"/>
            <a:ext cx="10058400" cy="-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Segoe UI"/>
              </a:rPr>
              <a:t>pnpm dev  —  then open http://localhost:3000 and pick Play vs Bots or Create a Room.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0" y="365760"/>
            <a:ext cx="5669280" cy="5120640"/>
          </a:xfrm>
          <a:prstGeom prst="ellipse">
            <a:avLst/>
          </a:prstGeom>
          <a:solidFill>
            <a:srgbClr val="12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 rot="2028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028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E53935"/>
                </a:solidFill>
                <a:latin typeface="Segoe UI"/>
              </a:rPr>
              <a:t>UNO</a:t>
            </a:r>
          </a:p>
        </p:txBody>
      </p:sp>
      <p:sp>
        <p:nvSpPr>
          <p:cNvPr id="7" name="Rounded Rectangle 6"/>
          <p:cNvSpPr/>
          <p:nvPr/>
        </p:nvSpPr>
        <p:spPr>
          <a:xfrm rot="2112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 rot="2112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DD835"/>
                </a:solidFill>
                <a:latin typeface="Segoe UI"/>
              </a:rPr>
              <a:t>UNO</a:t>
            </a:r>
          </a:p>
        </p:txBody>
      </p:sp>
      <p:sp>
        <p:nvSpPr>
          <p:cNvPr id="10" name="Rounded Rectangle 9"/>
          <p:cNvSpPr/>
          <p:nvPr/>
        </p:nvSpPr>
        <p:spPr>
          <a:xfrm rot="480000">
            <a:off x="8321040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 rot="480000">
            <a:off x="8449056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49056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43A047"/>
                </a:solidFill>
                <a:latin typeface="Segoe UI"/>
              </a:rPr>
              <a:t>UNO</a:t>
            </a:r>
          </a:p>
        </p:txBody>
      </p:sp>
      <p:sp>
        <p:nvSpPr>
          <p:cNvPr id="13" name="Rounded Rectangle 12"/>
          <p:cNvSpPr/>
          <p:nvPr/>
        </p:nvSpPr>
        <p:spPr>
          <a:xfrm rot="1320000">
            <a:off x="7955279" y="1051560"/>
            <a:ext cx="1051560" cy="1600200"/>
          </a:xfrm>
          <a:prstGeom prst="roundRect">
            <a:avLst>
              <a:gd name="adj" fmla="val 14000"/>
            </a:avLst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 rot="1320000">
            <a:off x="8083295" y="1252728"/>
            <a:ext cx="795528" cy="1197864"/>
          </a:xfrm>
          <a:prstGeom prst="roundRect">
            <a:avLst>
              <a:gd name="adj" fmla="val 1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1508760"/>
            <a:ext cx="7955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E88E5"/>
                </a:solidFill>
                <a:latin typeface="Segoe UI"/>
              </a:rPr>
              <a:t>UNO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3047923" cy="109728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47923" y="0"/>
            <a:ext cx="3047923" cy="109728"/>
          </a:xfrm>
          <a:prstGeom prst="rect">
            <a:avLst/>
          </a:prstGeom>
          <a:solidFill>
            <a:srgbClr val="FDD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95846" y="0"/>
            <a:ext cx="3047923" cy="109728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3769" y="0"/>
            <a:ext cx="3047923" cy="109728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i="0">
                <a:solidFill>
                  <a:srgbClr val="F1F5F9"/>
                </a:solidFill>
                <a:latin typeface="Segoe UI"/>
              </a:rPr>
              <a:t>THANK YOU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27432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DD835"/>
                </a:solidFill>
                <a:latin typeface="Segoe UI"/>
              </a:rPr>
              <a:t>Questions welcome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6576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4A3B8"/>
                </a:solidFill>
                <a:latin typeface="Segoe UI"/>
              </a:rPr>
              <a:t>WildCards — browser multiplayer UNO, reimagined for the web.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7548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Segoe UI"/>
              </a:rPr>
              <a:t>React 19  ·  TypeScript  ·  TanStack Start  ·  Cloudflare Workers  ·  Durable Objects  ·  D1  ·  WebSockets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