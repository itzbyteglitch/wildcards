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365760"/>
            <a:ext cx="5669280" cy="512064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280000">
            <a:off x="7955279" y="1051560"/>
            <a:ext cx="1051560" cy="1600200"/>
          </a:xfrm>
          <a:prstGeom prst="roundRect">
            <a:avLst>
              <a:gd name="adj" fmla="val 14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0280000">
            <a:off x="8083295" y="1252728"/>
            <a:ext cx="795528" cy="1197864"/>
          </a:xfrm>
          <a:prstGeom prst="roundRect">
            <a:avLst>
              <a:gd name="adj" fmla="val 1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83295" y="1508760"/>
            <a:ext cx="795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53935"/>
                </a:solidFill>
                <a:latin typeface="Segoe UI"/>
              </a:rPr>
              <a:t>UNO</a:t>
            </a:r>
          </a:p>
        </p:txBody>
      </p:sp>
      <p:sp>
        <p:nvSpPr>
          <p:cNvPr id="7" name="Rounded Rectangle 6"/>
          <p:cNvSpPr/>
          <p:nvPr/>
        </p:nvSpPr>
        <p:spPr>
          <a:xfrm rot="21120000">
            <a:off x="8321040" y="1051560"/>
            <a:ext cx="1051560" cy="1600200"/>
          </a:xfrm>
          <a:prstGeom prst="roundRect">
            <a:avLst>
              <a:gd name="adj" fmla="val 14000"/>
            </a:avLst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21120000">
            <a:off x="8449056" y="1252728"/>
            <a:ext cx="795528" cy="1197864"/>
          </a:xfrm>
          <a:prstGeom prst="roundRect">
            <a:avLst>
              <a:gd name="adj" fmla="val 1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49056" y="1508760"/>
            <a:ext cx="795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DD835"/>
                </a:solidFill>
                <a:latin typeface="Segoe UI"/>
              </a:rPr>
              <a:t>UNO</a:t>
            </a:r>
          </a:p>
        </p:txBody>
      </p:sp>
      <p:sp>
        <p:nvSpPr>
          <p:cNvPr id="10" name="Rounded Rectangle 9"/>
          <p:cNvSpPr/>
          <p:nvPr/>
        </p:nvSpPr>
        <p:spPr>
          <a:xfrm rot="480000">
            <a:off x="8321040" y="1051560"/>
            <a:ext cx="1051560" cy="16002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480000">
            <a:off x="8449056" y="1252728"/>
            <a:ext cx="795528" cy="1197864"/>
          </a:xfrm>
          <a:prstGeom prst="roundRect">
            <a:avLst>
              <a:gd name="adj" fmla="val 1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508760"/>
            <a:ext cx="795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3A047"/>
                </a:solidFill>
                <a:latin typeface="Segoe UI"/>
              </a:rPr>
              <a:t>UNO</a:t>
            </a:r>
          </a:p>
        </p:txBody>
      </p:sp>
      <p:sp>
        <p:nvSpPr>
          <p:cNvPr id="13" name="Rounded Rectangle 12"/>
          <p:cNvSpPr/>
          <p:nvPr/>
        </p:nvSpPr>
        <p:spPr>
          <a:xfrm rot="1320000">
            <a:off x="7955279" y="1051560"/>
            <a:ext cx="1051560" cy="1600200"/>
          </a:xfrm>
          <a:prstGeom prst="roundRect">
            <a:avLst>
              <a:gd name="adj" fmla="val 14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1320000">
            <a:off x="8083295" y="1252728"/>
            <a:ext cx="795528" cy="1197864"/>
          </a:xfrm>
          <a:prstGeom prst="roundRect">
            <a:avLst>
              <a:gd name="adj" fmla="val 1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5" y="1508760"/>
            <a:ext cx="795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88E5"/>
                </a:solidFill>
                <a:latin typeface="Segoe UI"/>
              </a:rPr>
              <a:t>UNO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DD835"/>
                </a:solidFill>
                <a:latin typeface="Segoe UI"/>
              </a:rPr>
              <a:t>TECHNICAL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1828800"/>
            <a:ext cx="7315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1F5F9"/>
                </a:solidFill>
                <a:latin typeface="Segoe UI"/>
              </a:rPr>
              <a:t>WILD </a:t>
            </a:r>
            <a:r>
              <a:rPr sz="6600" b="1" i="0">
                <a:solidFill>
                  <a:srgbClr val="E53935"/>
                </a:solidFill>
                <a:latin typeface="Segoe UI"/>
              </a:rPr>
              <a:t>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88E5"/>
                </a:solidFill>
                <a:latin typeface="Segoe UI"/>
              </a:rPr>
              <a:t>Browser Multiplayer UNO — Reimagined for the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A production-quality, real-time card game playable instantly in any browser — no downloads, no accounts. Powered by a server-authoritative engine and a globally distributed realtime layer.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929030" cy="31089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React 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16582" y="48920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TypeScript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0166" y="4892040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TanStack Start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3673" y="4892040"/>
            <a:ext cx="1678838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Cloudflare Workers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30952"/>
            <a:ext cx="1453895" cy="31089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Durable Objects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1447" y="533095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WebSockets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85031" y="5330952"/>
            <a:ext cx="1004011" cy="31089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D1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2–8 players  ·  private rooms  ·  smart bots  ·  cross-device realtime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PRESENTATION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435608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9324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01 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282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What WildCards is and why it exists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221992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35708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20370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02  Problem &amp;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146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The gaps it addresses and the goals set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008376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22092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99008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03  Key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What players actually get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794760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084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7764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04  Technology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0873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Every layer, framework and library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581144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59486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56285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05  System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737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How the pieces fit together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367528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81244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3492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06  Realtime Transport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66013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The auto-selecting delivery layer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1435608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449324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4173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07  Game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7282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Server-authoritative UNO rules</a:t>
            </a:r>
          </a:p>
        </p:txBody>
      </p:sp>
      <p:sp>
        <p:nvSpPr>
          <p:cNvPr id="39" name="Oval 38"/>
          <p:cNvSpPr/>
          <p:nvPr/>
        </p:nvSpPr>
        <p:spPr>
          <a:xfrm>
            <a:off x="6492240" y="2221992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235708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220370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08  Data, Auth &amp; Multiplayer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5146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Sessions, persistence, live play</a:t>
            </a:r>
          </a:p>
        </p:txBody>
      </p:sp>
      <p:sp>
        <p:nvSpPr>
          <p:cNvPr id="43" name="Oval 42"/>
          <p:cNvSpPr/>
          <p:nvPr/>
        </p:nvSpPr>
        <p:spPr>
          <a:xfrm>
            <a:off x="6492240" y="3008376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022092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99008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09  Deployment &amp; CI/CD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30098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Shipping to the edge</a:t>
            </a:r>
          </a:p>
        </p:txBody>
      </p:sp>
      <p:sp>
        <p:nvSpPr>
          <p:cNvPr id="47" name="Oval 46"/>
          <p:cNvSpPr/>
          <p:nvPr/>
        </p:nvSpPr>
        <p:spPr>
          <a:xfrm>
            <a:off x="6492240" y="3794760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38084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7764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10  Performance, Security &amp; Challenges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0873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Hard problems, real answers</a:t>
            </a:r>
          </a:p>
        </p:txBody>
      </p:sp>
      <p:sp>
        <p:nvSpPr>
          <p:cNvPr id="51" name="Oval 50"/>
          <p:cNvSpPr/>
          <p:nvPr/>
        </p:nvSpPr>
        <p:spPr>
          <a:xfrm>
            <a:off x="6492240" y="4581144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59486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56285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11  Demo &amp; Next Steps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8737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See it live, then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WHAT IS WILDCARDS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>WildCards </a:t>
            </a:r>
            <a:r>
              <a:rPr sz="1500" b="0" i="0">
                <a:solidFill>
                  <a:srgbClr val="94A3B8"/>
                </a:solidFill>
                <a:latin typeface="Segoe UI"/>
              </a:rPr>
              <a:t>is a production-quality, browser-based multiplayer implementation of the classic card game UNO. A single invite link drops players straight into a live game — the room is created instantly, bots fill empty seats, and every move is validated by an authoritative server so the rules can never be cheated.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4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063240"/>
            <a:ext cx="64008" cy="15544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2278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630168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46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53935"/>
                </a:solidFill>
                <a:latin typeface="Segoe UI"/>
              </a:rPr>
              <a:t>2–8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9319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players per room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06324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3063240"/>
            <a:ext cx="64008" cy="155448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2" y="32278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3630168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2" y="3246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DD835"/>
                </a:solidFill>
                <a:latin typeface="Segoe UI"/>
              </a:rPr>
              <a:t>≈30s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39319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turn timers keep games moving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06324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063240"/>
            <a:ext cx="64008" cy="155448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2278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630168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246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3A047"/>
                </a:solidFill>
                <a:latin typeface="Segoe U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9319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server-authoritative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306324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3063240"/>
            <a:ext cx="64008" cy="1554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32278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3630168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246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88E5"/>
                </a:solidFill>
                <a:latin typeface="Segoe U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9319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accounts or downloads required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983480"/>
            <a:ext cx="10515600" cy="114300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4983480"/>
            <a:ext cx="64008" cy="114300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5148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>One codebase, three environments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55040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The frontend runs as a static site; TanStack Start powers SSR and type-safe server functions; a Cloudflare Worker + Durable Object hosts each room as a globally addressable relay. The same code deploys across tabs, browsers and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WHY REBUILD A CLASSIC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508760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24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4904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Physical UNO is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892808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Setup, shuffling, rule disputes and scorekeeping interrupt the fun. Games can't happen without everyone in the same room.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1508760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224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4904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Real-time multiplayer is 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92808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State sync, latency, reconnects and fairness are notoriously difficult to get right — most web games cheat by trusting the client.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840480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5419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221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Most web clones feel broken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24528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Dead lobbies, logins required, ads, slow servers, or single-device demos that fall apart under real concurrent play.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840480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85419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8221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Trusting the client breaks the game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224528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A client-authoritative card game can be modified to draw cards, see hands, or win instantly — fair play demands the server make every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GOALS THAT SHAPED EVERY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Project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17320"/>
            <a:ext cx="10515600" cy="841248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417320"/>
            <a:ext cx="64008" cy="8412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581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984248"/>
            <a:ext cx="10058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52704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53935"/>
                </a:solidFill>
                <a:latin typeface="Segoe UI"/>
              </a:rPr>
              <a:t>01  </a:t>
            </a:r>
            <a:r>
              <a:rPr sz="1450" b="1" i="0">
                <a:solidFill>
                  <a:srgbClr val="F1F5F9"/>
                </a:solidFill>
                <a:latin typeface="Segoe UI"/>
              </a:rPr>
              <a:t>Instant, frictionless 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527048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One click to start against bots; one invite link to gather friends. No signup, no downloads, no installs.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386584"/>
            <a:ext cx="10515600" cy="841248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386584"/>
            <a:ext cx="64008" cy="84124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5511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953512"/>
            <a:ext cx="10058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4963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DD835"/>
                </a:solidFill>
                <a:latin typeface="Segoe UI"/>
              </a:rPr>
              <a:t>02  </a:t>
            </a:r>
            <a:r>
              <a:rPr sz="1450" b="1" i="0">
                <a:solidFill>
                  <a:srgbClr val="F1F5F9"/>
                </a:solidFill>
                <a:latin typeface="Segoe UI"/>
              </a:rPr>
              <a:t>Server-authoritative fairness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96312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Cards are dealt, shuffled and validated on the server. Clients only ever receive their own hand.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355848"/>
            <a:ext cx="10515600" cy="841248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355848"/>
            <a:ext cx="64008" cy="84124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520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922776"/>
            <a:ext cx="10058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465576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3A047"/>
                </a:solidFill>
                <a:latin typeface="Segoe UI"/>
              </a:rPr>
              <a:t>03  </a:t>
            </a:r>
            <a:r>
              <a:rPr sz="1450" b="1" i="0">
                <a:solidFill>
                  <a:srgbClr val="F1F5F9"/>
                </a:solidFill>
                <a:latin typeface="Segoe UI"/>
              </a:rPr>
              <a:t>Rock-solid realtime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465576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WebSockets by default, graceful fallbacks, reconnection, and a live poller that keeps every client converged on the same state.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325112"/>
            <a:ext cx="10515600" cy="841248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4325112"/>
            <a:ext cx="64008" cy="84124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489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92040"/>
            <a:ext cx="10058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4348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88E5"/>
                </a:solidFill>
                <a:latin typeface="Segoe UI"/>
              </a:rPr>
              <a:t>04  </a:t>
            </a:r>
            <a:r>
              <a:rPr sz="1450" b="1" i="0">
                <a:solidFill>
                  <a:srgbClr val="F1F5F9"/>
                </a:solidFill>
                <a:latin typeface="Segoe UI"/>
              </a:rPr>
              <a:t>A complete UNO ruleset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434840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Draw-2 / Wild+4 stacking chains, missed-UNO penalties, skips, reverses, wild color selection, and automatic turn timeouts.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294376"/>
            <a:ext cx="10515600" cy="841248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294376"/>
            <a:ext cx="64008" cy="8412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4589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861304"/>
            <a:ext cx="10058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404104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53935"/>
                </a:solidFill>
                <a:latin typeface="Segoe UI"/>
              </a:rPr>
              <a:t>05  </a:t>
            </a:r>
            <a:r>
              <a:rPr sz="1450" b="1" i="0">
                <a:solidFill>
                  <a:srgbClr val="F1F5F9"/>
                </a:solidFill>
                <a:latin typeface="Segoe UI"/>
              </a:rPr>
              <a:t>Professional engineering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5404104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Strict TypeScript, deterministic engine, CI pipeline with typecheck + build + lint, and a deployable edge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WHAT PLAYERS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Key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3337560" cy="219456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463040"/>
            <a:ext cx="64008" cy="219456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6276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Instant play vs smart 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029968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Start a match in one click; intelligent bots fill empty seats and follow the same rules as humans.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63040"/>
            <a:ext cx="3337560" cy="219456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463040"/>
            <a:ext cx="64008" cy="219456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6276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Private rooms &amp; invite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029968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 6-letter code and a shareable URL — up to 8 players join from any device or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337560" cy="219456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64008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276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Cross-device realtime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29968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Auto-selecting transport keeps every player in sync with live turn timers and a move log.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31920"/>
            <a:ext cx="3337560" cy="219456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931920"/>
            <a:ext cx="64008" cy="2194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09651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Full UNO rule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498848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Stacking +2 / +4 chains, missed-UNO penalties, skips, reverses, wild color picker, turn timeouts.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931920"/>
            <a:ext cx="3337560" cy="219456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931920"/>
            <a:ext cx="64008" cy="219456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409651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Stats &amp; leaderboard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498848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Guest profiles track wins, score and history with a global leaderboard — no account required.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931920"/>
            <a:ext cx="3337560" cy="219456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931920"/>
            <a:ext cx="64008" cy="219456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09651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Polished, animated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498848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Framer-Motion card physics, glassmorphism, dark theme, and full responsive layouts.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EVERY LAYER, FRAMEWORK AND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53935"/>
                </a:solidFill>
                <a:latin typeface="Segoe UI"/>
              </a:rP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874519"/>
            <a:ext cx="1027785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React 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337" y="1874519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TypeScript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7" y="1874519"/>
            <a:ext cx="885139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Vite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2738" y="1874519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TanStack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295143"/>
            <a:ext cx="145572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TanStack 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43276" y="2295143"/>
            <a:ext cx="145572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TanStack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3592" y="2295143"/>
            <a:ext cx="956462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Zustand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715767"/>
            <a:ext cx="145572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Tailwind CSS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3276" y="2715767"/>
            <a:ext cx="1384401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Framer Motion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2269" y="2715767"/>
            <a:ext cx="1027785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Radix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84646" y="2715767"/>
            <a:ext cx="671169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Zod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136391"/>
            <a:ext cx="1027785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1E88E5"/>
                </a:solidFill>
                <a:latin typeface="Segoe UI"/>
              </a:rPr>
              <a:t>Recharts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3A047"/>
                </a:solidFill>
                <a:latin typeface="Segoe UI"/>
              </a:rPr>
              <a:t>Backend &amp; Infrastructure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1874519"/>
            <a:ext cx="1741017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Cloudflare Workers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2169" y="1874519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Durable Objects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295143"/>
            <a:ext cx="1241755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D1 (SQLite)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2907" y="2295143"/>
            <a:ext cx="742492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Hono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9991" y="2295143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WebSockets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2715767"/>
            <a:ext cx="166969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Supabase Realtime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00846" y="2715767"/>
            <a:ext cx="1598371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BroadcastChannel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136391"/>
            <a:ext cx="1027785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JWT auth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8937" y="3136391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Wrangler CLI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6607" y="3136391"/>
            <a:ext cx="1455724" cy="310896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952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1">
                <a:solidFill>
                  <a:srgbClr val="43A047"/>
                </a:solidFill>
                <a:latin typeface="Segoe UI"/>
              </a:rPr>
              <a:t>GitHub 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846320"/>
            <a:ext cx="10515600" cy="132588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4846320"/>
            <a:ext cx="64008" cy="132588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0109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>Game engine: pure, deterministic TypeScript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41324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The core UNO logic (deck building, shuffling, turn order, stacking, scoring) lives in a zero-dependency TypeScript module. Being deterministic, it can run identically on the server for validation and in tests for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HOW THE PIECES FIT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1A253A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910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88E5"/>
                </a:solidFill>
                <a:latin typeface="Segoe UI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25237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Browser app
React 19 UI · TanStack Router
reads server-authoritative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463040"/>
            <a:ext cx="3017520" cy="1325880"/>
          </a:xfrm>
          <a:prstGeom prst="roundRect">
            <a:avLst>
              <a:gd name="adj" fmla="val 12000"/>
            </a:avLst>
          </a:prstGeom>
          <a:solidFill>
            <a:srgbClr val="1A253A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9105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3A047"/>
                </a:solidFill>
                <a:latin typeface="Segoe UI"/>
              </a:rPr>
              <a:t>TANSTACK START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938528"/>
            <a:ext cx="27980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SSR + type-safe Server Functions
REST actions · guest auth
writes to room &amp;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463040"/>
            <a:ext cx="2926080" cy="1325880"/>
          </a:xfrm>
          <a:prstGeom prst="roundRect">
            <a:avLst>
              <a:gd name="adj" fmla="val 12000"/>
            </a:avLst>
          </a:prstGeom>
          <a:solidFill>
            <a:srgbClr val="1A253A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9105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53935"/>
                </a:solidFill>
                <a:latin typeface="Segoe UI"/>
              </a:rPr>
              <a:t>ROOM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1938528"/>
            <a:ext cx="27066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Cloudflare Worker + Durable Object
WebSocket relay · roster
authoritative state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749039"/>
            <a:ext cx="3017520" cy="1143000"/>
          </a:xfrm>
          <a:prstGeom prst="roundRect">
            <a:avLst>
              <a:gd name="adj" fmla="val 12000"/>
            </a:avLst>
          </a:prstGeom>
          <a:solidFill>
            <a:srgbClr val="1A253A"/>
          </a:solidFill>
          <a:ln w="19050">
            <a:solidFill>
              <a:srgbClr val="FDD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877055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DD835"/>
                </a:solidFill>
                <a:latin typeface="Segoe UI"/>
              </a:rPr>
              <a:t>D1 ·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224527"/>
            <a:ext cx="27980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profiles · game history
leaderboard · stats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749039"/>
            <a:ext cx="2926080" cy="1143000"/>
          </a:xfrm>
          <a:prstGeom prst="roundRect">
            <a:avLst>
              <a:gd name="adj" fmla="val 12000"/>
            </a:avLst>
          </a:prstGeom>
          <a:solidFill>
            <a:srgbClr val="1A253A"/>
          </a:solidFill>
          <a:ln w="19050">
            <a:solidFill>
              <a:srgbClr val="FDD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877055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DD835"/>
                </a:solidFill>
                <a:latin typeface="Segoe UI"/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224527"/>
            <a:ext cx="27066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guest sessions · JWT
localStorage persistence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2103120"/>
            <a:ext cx="1188720" cy="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0" y="2103120"/>
            <a:ext cx="640080" cy="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63640" y="2788920"/>
            <a:ext cx="0" cy="960119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75520" y="2788920"/>
            <a:ext cx="0" cy="960119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Segoe UI"/>
              </a:rPr>
              <a:t>REALTIME TRANSPORT  —  auto-selecting, in priority order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742432"/>
            <a:ext cx="3337560" cy="685800"/>
          </a:xfrm>
          <a:prstGeom prst="roundRect">
            <a:avLst>
              <a:gd name="adj" fmla="val 15000"/>
            </a:avLst>
          </a:prstGeom>
          <a:solidFill>
            <a:srgbClr val="121B2E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" y="5852160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658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5760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Segoe UI"/>
              </a:rPr>
              <a:t>WebSocket → Durable Object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60533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primary path — the Worker relays every event to all connected peers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742432"/>
            <a:ext cx="3337560" cy="685800"/>
          </a:xfrm>
          <a:prstGeom prst="roundRect">
            <a:avLst>
              <a:gd name="adj" fmla="val 15000"/>
            </a:avLst>
          </a:prstGeom>
          <a:solidFill>
            <a:srgbClr val="121B2E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2000" y="5852160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8658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1768" y="5760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Segoe UI"/>
              </a:rPr>
              <a:t>Supabase Realtime Broadcast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60533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fallback when the WS origin isn't configured or reachable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5742432"/>
            <a:ext cx="3337560" cy="685800"/>
          </a:xfrm>
          <a:prstGeom prst="roundRect">
            <a:avLst>
              <a:gd name="adj" fmla="val 15000"/>
            </a:avLst>
          </a:prstGeom>
          <a:solidFill>
            <a:srgbClr val="121B2E"/>
          </a:solidFill>
          <a:ln w="12700">
            <a:solidFill>
              <a:srgbClr val="FDD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83880" y="5852160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586587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5760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Segoe UI"/>
              </a:rPr>
              <a:t>BroadcastChannel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60533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same-browser, cross-tab rooms with zero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A MODERN TANSTACK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Frontend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463040"/>
            <a:ext cx="54864" cy="78638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5544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File-based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5544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TanStack Router with typed routes — landing, play, lobby, room/:code, leaderboard, profile.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3774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377440"/>
            <a:ext cx="54864" cy="786384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4688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Server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4688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getRoom / joinRoom / submitAction are type-safe RPCs the client calls like local functions.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918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291840"/>
            <a:ext cx="54864" cy="78638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832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Authored state, live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3832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Zustand + React Query cache server state; local mirrors for instant, optimistic interaction.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062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206240"/>
            <a:ext cx="54864" cy="78638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2976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Component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2976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Radix UI primitives, Tailwind design tokens, Framer Motion for card play animations.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1206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5120640"/>
            <a:ext cx="54864" cy="78638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2120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Realtime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21208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 transport abstraction sends 'sync' nudges and reacts to peer messages by re-pulling authoritative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CLOUDFLARE WORKERS AT THE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Backend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700784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171450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5544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One Durable Object per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Rooms are keyed by code and live as globally addressable, co-located objects — instant, region-aware relay with persistent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3774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2615184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262890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468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WebSocket relay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468880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The DO accepts sockets, binds identity to each connection, and fans every message out to the roster. Newcomers and reconnects get a full state snapshot.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918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3529584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54330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3832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Identity over the wire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383280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 player can never impersonate another — identity is bound to the socket, and every action must carry the same playerId.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2062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" y="4443984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45770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297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Server functions as the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297680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Join, start, act and leave are server functions that validate tokens, enforce rules, persist to D1, and return the authoritative state.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20640"/>
            <a:ext cx="10515600" cy="786384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128" y="5358384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37210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2120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CORS + upgrade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212080"/>
            <a:ext cx="6263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The Worker handles OPTIONS and WebSocket upgrades with a single, shared CORS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RELIABILITY THROUGH GRACEFUL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Realtime Transport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>Every client sends two signals: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A047"/>
                </a:solidFill>
                <a:latin typeface="Segoe UI"/>
              </a:rPr>
              <a:t>→ </a:t>
            </a:r>
            <a:r>
              <a:rPr sz="1250" b="1" i="0">
                <a:solidFill>
                  <a:srgbClr val="F1F5F9"/>
                </a:solidFill>
                <a:latin typeface="Segoe UI"/>
              </a:rPr>
              <a:t>sync nudges</a:t>
            </a:r>
            <a:r>
              <a:rPr sz="1250" b="0" i="0">
                <a:solidFill>
                  <a:srgbClr val="94A3B8"/>
                </a:solidFill>
                <a:latin typeface="Segoe UI"/>
              </a:rPr>
              <a:t>  “something changed, re-pull”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DD835"/>
                </a:solidFill>
                <a:latin typeface="Segoe UI"/>
              </a:rPr>
              <a:t>→ </a:t>
            </a:r>
            <a:r>
              <a:rPr sz="1250" b="1" i="0">
                <a:solidFill>
                  <a:srgbClr val="F1F5F9"/>
                </a:solidFill>
                <a:latin typeface="Segoe UI"/>
              </a:rPr>
              <a:t>join / leave / hello</a:t>
            </a:r>
            <a:r>
              <a:rPr sz="1250" b="0" i="0">
                <a:solidFill>
                  <a:srgbClr val="94A3B8"/>
                </a:solidFill>
                <a:latin typeface="Segoe UI"/>
              </a:rPr>
              <a:t>  roster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10515600" cy="987552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9169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LAYER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898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WebSocket → Durable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Primary path. The Worker fans out events to every peer over a persistent socket. Reconnect-safe: newcomers receive the full latest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31920"/>
            <a:ext cx="10515600" cy="987552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19050">
            <a:solidFill>
              <a:srgbClr val="FDD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0599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LAYER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041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Supabase Realtime Broadcast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074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Fallback transport. Broadcasts channeled through Supabase when the WS origin is not deployed or reachable.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74920"/>
            <a:ext cx="10515600" cy="987552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52029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100" b="0">
                <a:solidFill>
                  <a:srgbClr val="0B1220"/>
                </a:solidFill>
                <a:latin typeface="Consolas"/>
              </a:rPr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184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BroadcastChannel (same browser)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Local fallback. Cross-tab rooms on the same machine need zero network — perfect for demos and quick multiplayer.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 3-second poller re-pulls authoritative state regardless of transport, so clients always converge even if a push is missed.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PURE, DETERMINISTIC TYPESCRIPT — ZERO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Server-Authoritative Game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2743200" cy="786384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463040"/>
            <a:ext cx="64008" cy="78638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6276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029968"/>
            <a:ext cx="22860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5819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Deterministic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55448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The same pure functions create games, apply actions and score rounds — the server is the single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377440"/>
            <a:ext cx="2743200" cy="786384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377440"/>
            <a:ext cx="64008" cy="786384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5420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944368"/>
            <a:ext cx="22860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24963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Strict move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46888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Every play is checked: is it this player's turn, is the card legal, is a color chosen for wilds, is the +2/+4 stack respected?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291840"/>
            <a:ext cx="2743200" cy="786384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291840"/>
            <a:ext cx="64008" cy="78638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4564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858768"/>
            <a:ext cx="22860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4107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Full UNO ruleset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38328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Skip, reverse (acts as skip with 2 players), draw-2 and wild+4 stacking chains, wild color selection, missed-UNO penalty (+2).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206240"/>
            <a:ext cx="2743200" cy="786384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4206240"/>
            <a:ext cx="64008" cy="78638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370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773168"/>
            <a:ext cx="22860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3251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Automatic turn timeouts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29768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 30s timer auto-draws for idle players so games never stall.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120640"/>
            <a:ext cx="2743200" cy="786384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5120640"/>
            <a:ext cx="64008" cy="786384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2852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1F5F9"/>
                </a:solidFill>
                <a:latin typeface="Segoe U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687568"/>
            <a:ext cx="22860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2395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21208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Winners bank the face value of every card left in opponents' hands — numbers, 20 for action cards, 50 for wilds.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98932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606247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A047"/>
                </a:solidFill>
                <a:latin typeface="Consolas"/>
              </a:rPr>
              <a:t>engine.ts  </a:t>
            </a:r>
            <a:r>
              <a:rPr sz="1050" b="0" i="0">
                <a:solidFill>
                  <a:srgbClr val="94A3B8"/>
                </a:solidFill>
                <a:latin typeface="Consolas"/>
              </a:rPr>
              <a:t>createGame() · applyAction() · canPlay() · legalCards() · handleTimeout()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SESSIONS, PERSISTENCE AND LIVE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Data, Auth &amp; Multiplayer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Guest-first 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874519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196595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Guest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58567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No signup — a local profile (id, name, avatar) is created on first visit.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16934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00837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JWT per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30098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Joining a room returns a token stored in localStorage; every action carries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59349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5078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D1 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343397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Profiles, game history, wins and leaderboard stats are persisted in SQLite.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01764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09320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Privacy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38581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Clients only ever receive their own hand — opponents' cards never leave the server.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Live multiplayer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A253A"/>
          </a:solidFill>
          <a:ln w="15875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65392" y="2057399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071115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1965959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Create / Join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258567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room code + token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2587751"/>
            <a:ext cx="0" cy="731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0" y="2715767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A253A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65392" y="2898647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912363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807207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Connect transport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099815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WS / Supabase / BC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0" y="3428999"/>
            <a:ext cx="0" cy="731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00800" y="3557015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A253A"/>
          </a:solidFill>
          <a:ln w="15875">
            <a:solidFill>
              <a:srgbClr val="FDD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65392" y="3739895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3753611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3648455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Dispatch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3941063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play · draw · uno · color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686800" y="4270247"/>
            <a:ext cx="0" cy="731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0" y="4398263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A253A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65392" y="4581143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4594859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4489703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Engine validates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78231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turn + legality + rules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86800" y="5111495"/>
            <a:ext cx="0" cy="731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400800" y="5239511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A253A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65392" y="5422391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5436107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8" y="533095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Segoe UI"/>
              </a:rPr>
              <a:t>Authoritative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5623559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fan-out to all peers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SHIP TO THE EDGE, VERIFY EVERY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Deployment &amp; Continuous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Deployment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385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0">
                <a:solidFill>
                  <a:srgbClr val="0B1220"/>
                </a:solidFill>
                <a:latin typeface="Consola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Cloudflare Pages — static build of the React app, edge-cached, globally distributed.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3464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0">
                <a:solidFill>
                  <a:srgbClr val="0B1220"/>
                </a:solidFill>
                <a:latin typeface="Consola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16352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Cloudflare Workers — Durable Object room server deployed via wrangler.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3075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0">
                <a:solidFill>
                  <a:srgbClr val="0B1220"/>
                </a:solidFill>
                <a:latin typeface="Consolas"/>
              </a:rPr>
              <a:t>REALTIME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12464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WebSocket origin on the Worker; Supabase channels as fallback.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26864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900" b="0">
                <a:solidFill>
                  <a:srgbClr val="0B1220"/>
                </a:solidFill>
                <a:latin typeface="Consola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608576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Cloudflare D1 (SQLite) for profiles, history and leaderboard.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CI pipeline — GitHub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920240"/>
            <a:ext cx="4206240" cy="96012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1920240"/>
            <a:ext cx="54864" cy="9601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029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Segoe UI"/>
              </a:rPr>
              <a:t>Typecheck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029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88E5"/>
                </a:solidFill>
                <a:latin typeface="Consolas"/>
              </a:rPr>
              <a:t>tsc --noEmit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377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strict, no silent type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063240"/>
            <a:ext cx="4206240" cy="96012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3063240"/>
            <a:ext cx="54864" cy="9601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172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Segoe UI"/>
              </a:rPr>
              <a:t>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172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3A047"/>
                </a:solidFill>
                <a:latin typeface="Consolas"/>
              </a:rPr>
              <a:t>vite 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520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production bundle compiles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206240"/>
            <a:ext cx="4206240" cy="960120"/>
          </a:xfrm>
          <a:prstGeom prst="roundRect">
            <a:avLst>
              <a:gd name="adj" fmla="val 9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0" y="4206240"/>
            <a:ext cx="54864" cy="96012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4315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Segoe UI"/>
              </a:rPr>
              <a:t>Lint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DD835"/>
                </a:solidFill>
                <a:latin typeface="Consolas"/>
              </a:rPr>
              <a:t>eslint 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663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code quality gates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532120"/>
            <a:ext cx="10515600" cy="77724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5532120"/>
            <a:ext cx="64008" cy="77724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56967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One command to 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6099048"/>
            <a:ext cx="10058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cd worker &amp;&amp; wrangler deploy  —  then point VITE_REALTIME_WS_URL at the new wss:// origin. The frontend builds and ships independently.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FROM MATCH SETUP TO THE WINNING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Gameplay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pic>
        <p:nvPicPr>
          <p:cNvPr id="11" name="Picture 10" descr="play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023360" cy="25532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6235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Choose your challenge — bots or a private room</a:t>
            </a:r>
          </a:p>
        </p:txBody>
      </p:sp>
      <p:pic>
        <p:nvPicPr>
          <p:cNvPr id="13" name="Picture 12" descr="game-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91640"/>
            <a:ext cx="6035040" cy="38299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56235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Live board — opponents, deck, discard pile, turn timer and move 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GATHER THE CREW IN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Private Rooms &amp; Lobby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pic>
        <p:nvPicPr>
          <p:cNvPr id="11" name="Picture 10" descr="lobby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029200" cy="3178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Create or join a room by 6-letter code</a:t>
            </a:r>
          </a:p>
        </p:txBody>
      </p:sp>
      <p:pic>
        <p:nvPicPr>
          <p:cNvPr id="13" name="Picture 12" descr="room-lob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029200" cy="3178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257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Room lobby — copy invite link, host starts when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Segoe UI"/>
              </a:rPr>
              <a:t>How it works: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Host opens a room → gets a code + link → shares it → players join from any device → the host deals the first round.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EVERY GAME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Stats &amp; Progression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pic>
        <p:nvPicPr>
          <p:cNvPr id="11" name="Picture 10" descr="leaderboard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029200" cy="3178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Global leaderboard — win streaks and totals</a:t>
            </a:r>
          </a:p>
        </p:txBody>
      </p:sp>
      <p:pic>
        <p:nvPicPr>
          <p:cNvPr id="13" name="Picture 12" descr="profile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029200" cy="35591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5349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Personal profile — games, wins and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Segoe UI"/>
              </a:rPr>
              <a:t>No accounts: 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a guest profile follows the player across sessions via local storage; leaderboard stats are server-persisted in D1.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ENGINEERING UNDER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Performance, Security &amp;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3A047"/>
                </a:solidFill>
                <a:latin typeface="Segoe UI"/>
              </a:rPr>
              <a:t>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01952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901952"/>
            <a:ext cx="45720" cy="987552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97510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Edge-distributed rooms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249424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Durable Objects run close to players; static assets are served from the Cloudflare edge cache.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035808"/>
            <a:ext cx="45720" cy="987552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0896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Slim realtime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383280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Only 'sync' nudges and roster events travel the wire — state is pulled once, rendered locally.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69664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169664"/>
            <a:ext cx="45720" cy="987552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242816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Lazy hydration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517136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Client routes hydrate only when needed; animations are GPU-friendly.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146304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53935"/>
                </a:solidFill>
                <a:latin typeface="Segoe UI"/>
              </a:rPr>
              <a:t>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1901952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1901952"/>
            <a:ext cx="45720" cy="98755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197510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Server-authoritative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2249424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No client trust: dealing, shuffling, legality and scoring all happen server-side.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035808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035808"/>
            <a:ext cx="45720" cy="98755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10896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Socket-bound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3383280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Actions carry the same playerId as the socket — impersonation is structurally impossible.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169664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4169664"/>
            <a:ext cx="45720" cy="98755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4242816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JWT room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517136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Every room action is authenticated; tokens persist per room in localStorage.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5303520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5303520"/>
            <a:ext cx="45720" cy="98755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376672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Hand privacy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650992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A player never receives opponents' cards — the server only broadcasts results.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146304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88E5"/>
                </a:solidFill>
                <a:latin typeface="Segoe UI"/>
              </a:rPr>
              <a:t>RELIABILITY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1901952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1901952"/>
            <a:ext cx="45720" cy="9875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197510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Graceful transport fallback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2249424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WS → Supabase → BroadcastChannel with a 3s poller that guarantees convergence.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3035808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3035808"/>
            <a:ext cx="45720" cy="9875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2" y="3108960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Reconnect snapshots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3383280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Late joiners and reconnects receive the full authoritative state instantly.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4169664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1A253A"/>
          </a:solidFill>
          <a:ln w="9525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46720" y="4169664"/>
            <a:ext cx="45720" cy="9875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1312" y="4242816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CI enforcement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4517136"/>
            <a:ext cx="30632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Typecheck, build and lint gate every commit to prevent regressions.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REAL PROBLEMS, ENGINEERED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Challenges &amp;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1481328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495044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463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Realtime that survives anything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7393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53935"/>
                </a:solidFill>
                <a:latin typeface="Segoe UI"/>
              </a:rPr>
              <a:t>Issue: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Fragile single-channel WebSockets.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444752"/>
            <a:ext cx="27432" cy="84124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81328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A047"/>
                </a:solidFill>
                <a:latin typeface="Segoe UI"/>
              </a:rPr>
              <a:t>Solution: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Built an auto-selecting transport (WS → Supabase → BroadcastChannel) plus a 3s state poller, so clients always converge even when a push is lost.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2432304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4602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4140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Cheat-proof multiplayer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72491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53935"/>
                </a:solidFill>
                <a:latin typeface="Segoe UI"/>
              </a:rPr>
              <a:t>Issue: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Client-authoritative games are trivially hackable.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395728"/>
            <a:ext cx="27432" cy="84124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432304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A047"/>
                </a:solidFill>
                <a:latin typeface="Segoe UI"/>
              </a:rPr>
              <a:t>Solution: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Moved every decision into a deterministic server engine; clients receive only their own hand and can only nudge peers to re-pull state.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3383280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39699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64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Concurrency in card games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7588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53935"/>
                </a:solidFill>
                <a:latin typeface="Segoe UI"/>
              </a:rPr>
              <a:t>Issue: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Double-plays, stale actions, race conditions.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346704"/>
            <a:ext cx="27432" cy="84124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383280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A047"/>
                </a:solidFill>
                <a:latin typeface="Segoe UI"/>
              </a:rPr>
              <a:t>Solution: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Room sequence numbers, socket-bound identity, and re-fetch-on-nudge semantics make every action idempotent and self-healing.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4334256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347972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3159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Type-safety across the wire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62686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53935"/>
                </a:solidFill>
                <a:latin typeface="Segoe UI"/>
              </a:rPr>
              <a:t>Issue: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Mismatched client/server contracts.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4297680"/>
            <a:ext cx="27432" cy="84124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334256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A047"/>
                </a:solidFill>
                <a:latin typeface="Segoe UI"/>
              </a:rPr>
              <a:t>Solution: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Zod-validated search params and shared types between client and server functions keep the contract compile-time checked end to end.</a:t>
            </a:r>
          </a:p>
        </p:txBody>
      </p:sp>
      <p:sp>
        <p:nvSpPr>
          <p:cNvPr id="35" name="Oval 34"/>
          <p:cNvSpPr/>
          <p:nvPr/>
        </p:nvSpPr>
        <p:spPr>
          <a:xfrm>
            <a:off x="868680" y="5285232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298948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266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1F5F9"/>
                </a:solidFill>
                <a:latin typeface="Segoe UI"/>
              </a:rPr>
              <a:t>Keep the build green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77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53935"/>
                </a:solidFill>
                <a:latin typeface="Segoe UI"/>
              </a:rPr>
              <a:t>Issue: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Every commit risks regressions.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5248656"/>
            <a:ext cx="27432" cy="84124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5285232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A047"/>
                </a:solidFill>
                <a:latin typeface="Segoe UI"/>
              </a:rPr>
              <a:t>Solution: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CI runs typecheck, build and lint; a strict ESLint config (including the no-control-regex edge case) keeps the pipeline passing.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WHERE WILDCARDS GOES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63040"/>
            <a:ext cx="3337560" cy="210312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463040"/>
            <a:ext cx="64008" cy="21031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6276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Accounts &amp; OAuth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02996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Let players claim their guest profile with email or social login and sync stats across devices.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63040"/>
            <a:ext cx="3337560" cy="210312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463040"/>
            <a:ext cx="64008" cy="210312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6276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Matchmaking &amp; ladder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02996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Ranked queues, ELO-style ratings and seasonal leaderboards for competitive play.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337560" cy="210312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64008" cy="21031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62763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AI difficulty tiers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2996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Smarter bots with personality: aggressive, defensive and classic-strategy models.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94760"/>
            <a:ext cx="3337560" cy="210312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794760"/>
            <a:ext cx="64008" cy="21031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9593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Mobile-first &amp; PWA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36168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Installable offline shell, touch-optimized controls, and push-friendly room invites.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794760"/>
            <a:ext cx="3337560" cy="210312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794760"/>
            <a:ext cx="64008" cy="21031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593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Tournaments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36168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Brackets, timed events and custom house rules for organized play.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94760"/>
            <a:ext cx="3337560" cy="210312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794760"/>
            <a:ext cx="64008" cy="2103120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9593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Spectator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36168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Watch live rooms with a full move history and commentary.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82296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82296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82296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82296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3935"/>
                </a:solidFill>
                <a:latin typeface="Segoe UI"/>
              </a:rPr>
              <a:t>SEE IT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225296"/>
            <a:ext cx="1234440" cy="4114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WILD CARDS  ·  Technical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Segoe UI"/>
              </a:rPr>
              <a:t>What we'll run through: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148840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62556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214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Start a game vs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48840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One click — bots fill the table and the first hand is dealt.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2898648"/>
            <a:ext cx="310896" cy="310896"/>
          </a:xfrm>
          <a:prstGeom prst="ellipse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12364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7121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Open a private 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98648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Create a room, copy the invite link, join from a second tab/device.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648456"/>
            <a:ext cx="310896" cy="31089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62172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210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Play a full 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648456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Legal plays, wild color choice, draw, and the live turn timer.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398264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11980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708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Trigger an edge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398264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Say UNO late, start a +2 / +4 chain, and watch the server enforce it.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148072"/>
            <a:ext cx="310896" cy="31089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61788"/>
            <a:ext cx="310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20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Check the scoreboard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148072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Finish a round and see the profile + leaderboard update.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806440"/>
            <a:ext cx="10515600" cy="685800"/>
          </a:xfrm>
          <a:prstGeom prst="roundRect">
            <a:avLst>
              <a:gd name="adj" fmla="val 5500"/>
            </a:avLst>
          </a:prstGeom>
          <a:solidFill>
            <a:srgbClr val="1A253A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5806440"/>
            <a:ext cx="64008" cy="6858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5971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Segoe UI"/>
              </a:rPr>
              <a:t>Run locally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6373368"/>
            <a:ext cx="10058400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pnpm dev  —  then open http://localhost:3000 and pick Play vs Bots or Create a Room.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09728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09728"/>
          </a:xfrm>
          <a:prstGeom prst="rect">
            <a:avLst/>
          </a:prstGeom>
          <a:solidFill>
            <a:srgbClr val="FDD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0972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1F5F9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DD835"/>
                </a:solidFill>
                <a:latin typeface="Segoe UI"/>
              </a:rPr>
              <a:t>Questions 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WildCards — browser multiplayer UNO, reimagined for the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React 19  ·  TypeScript  ·  TanStack Start  ·  Cloudflare Workers  ·  Durable Objects  ·  D1  ·  WebSockets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